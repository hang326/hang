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60" r:id="rId2"/>
    <p:sldId id="263" r:id="rId3"/>
    <p:sldId id="336" r:id="rId4"/>
    <p:sldId id="384" r:id="rId5"/>
    <p:sldId id="352" r:id="rId6"/>
    <p:sldId id="386" r:id="rId7"/>
    <p:sldId id="388" r:id="rId8"/>
    <p:sldId id="389" r:id="rId9"/>
    <p:sldId id="390" r:id="rId10"/>
    <p:sldId id="391" r:id="rId11"/>
    <p:sldId id="359" r:id="rId12"/>
    <p:sldId id="392" r:id="rId13"/>
    <p:sldId id="261" r:id="rId14"/>
    <p:sldId id="382" r:id="rId15"/>
    <p:sldId id="378" r:id="rId16"/>
    <p:sldId id="355" r:id="rId17"/>
    <p:sldId id="380" r:id="rId18"/>
    <p:sldId id="340" r:id="rId19"/>
    <p:sldId id="381" r:id="rId20"/>
    <p:sldId id="360" r:id="rId21"/>
    <p:sldId id="361" r:id="rId22"/>
    <p:sldId id="362" r:id="rId23"/>
    <p:sldId id="363" r:id="rId24"/>
    <p:sldId id="364" r:id="rId25"/>
    <p:sldId id="365" r:id="rId26"/>
    <p:sldId id="354" r:id="rId27"/>
    <p:sldId id="366" r:id="rId28"/>
    <p:sldId id="383" r:id="rId29"/>
    <p:sldId id="367" r:id="rId30"/>
    <p:sldId id="368" r:id="rId31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>
          <p15:clr>
            <a:srgbClr val="A4A3A4"/>
          </p15:clr>
        </p15:guide>
        <p15:guide id="2" orient="horz" pos="868">
          <p15:clr>
            <a:srgbClr val="A4A3A4"/>
          </p15:clr>
        </p15:guide>
        <p15:guide id="3" orient="horz" pos="381">
          <p15:clr>
            <a:srgbClr val="A4A3A4"/>
          </p15:clr>
        </p15:guide>
        <p15:guide id="4" orient="horz" pos="2206">
          <p15:clr>
            <a:srgbClr val="A4A3A4"/>
          </p15:clr>
        </p15:guide>
        <p15:guide id="5" pos="347">
          <p15:clr>
            <a:srgbClr val="A4A3A4"/>
          </p15:clr>
        </p15:guide>
        <p15:guide id="6" pos="7355">
          <p15:clr>
            <a:srgbClr val="A4A3A4"/>
          </p15:clr>
        </p15:guide>
        <p15:guide id="7" pos="3842">
          <p15:clr>
            <a:srgbClr val="A4A3A4"/>
          </p15:clr>
        </p15:guide>
        <p15:guide id="8" pos="349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DA2BF"/>
    <a:srgbClr val="39639D"/>
    <a:srgbClr val="DA1F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E269D01E-BC32-4049-B463-5C60D7B0CCD2}" styleName="主题样式 2 - 强调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904" autoAdjust="0"/>
    <p:restoredTop sz="95789" autoAdjust="0"/>
  </p:normalViewPr>
  <p:slideViewPr>
    <p:cSldViewPr snapToGrid="0" showGuides="1">
      <p:cViewPr varScale="1">
        <p:scale>
          <a:sx n="86" d="100"/>
          <a:sy n="86" d="100"/>
        </p:scale>
        <p:origin x="979" y="62"/>
      </p:cViewPr>
      <p:guideLst>
        <p:guide orient="horz" pos="4065"/>
        <p:guide orient="horz" pos="868"/>
        <p:guide orient="horz" pos="381"/>
        <p:guide orient="horz" pos="2206"/>
        <p:guide pos="347"/>
        <p:guide pos="7355"/>
        <p:guide pos="3842"/>
        <p:guide pos="349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338393-8F64-4FF2-82D7-481C613755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66988A6C-7766-461B-BD71-3827861417A3}">
      <dgm:prSet/>
      <dgm:spPr>
        <a:solidFill>
          <a:srgbClr val="00B0F0"/>
        </a:solidFill>
      </dgm:spPr>
      <dgm:t>
        <a:bodyPr/>
        <a:lstStyle/>
        <a:p>
          <a:pPr indent="457200" rtl="0" latinLnBrk="1"/>
          <a:r>
            <a:rPr lang="zh-CN" altLang="en-US" dirty="0"/>
            <a:t>该课程</a:t>
          </a:r>
          <a:r>
            <a:rPr lang="zh-CN" dirty="0"/>
            <a:t>是</a:t>
          </a:r>
          <a:r>
            <a:rPr lang="zh-CN" altLang="en-US" dirty="0"/>
            <a:t>软件技术及相关专业的专业核心课程，是培养学生熟练运用</a:t>
          </a:r>
          <a:r>
            <a:rPr lang="en-US" altLang="zh-CN" dirty="0"/>
            <a:t>Web</a:t>
          </a:r>
          <a:r>
            <a:rPr lang="zh-CN" altLang="en-US" dirty="0"/>
            <a:t>前端技术并结合</a:t>
          </a:r>
          <a:r>
            <a:rPr lang="en-US" altLang="zh-CN" dirty="0" err="1"/>
            <a:t>SpringBoot</a:t>
          </a:r>
          <a:r>
            <a:rPr lang="zh-CN" altLang="en-US" dirty="0"/>
            <a:t>初级技术进行页面与功能的开发学习。为后续</a:t>
          </a:r>
          <a:r>
            <a:rPr lang="en-US" altLang="zh-CN" dirty="0" err="1"/>
            <a:t>Uniapp</a:t>
          </a:r>
          <a:r>
            <a:rPr lang="zh-CN" altLang="en-US" dirty="0"/>
            <a:t>等综合技术应用做铺垫，对从事企业级开发起决定性作用。</a:t>
          </a:r>
          <a:endParaRPr lang="zh-CN" dirty="0"/>
        </a:p>
      </dgm:t>
    </dgm:pt>
    <dgm:pt modelId="{DE6DAE08-E181-47EA-BCD0-0C4E795FB8CE}" type="parTrans" cxnId="{96F63C5D-F4C3-478D-A1F6-4615DA87D0A8}">
      <dgm:prSet/>
      <dgm:spPr/>
      <dgm:t>
        <a:bodyPr/>
        <a:lstStyle/>
        <a:p>
          <a:endParaRPr lang="zh-CN" altLang="en-US"/>
        </a:p>
      </dgm:t>
    </dgm:pt>
    <dgm:pt modelId="{C9D718B0-C3B5-4D6A-9975-CEE566C0B823}" type="sibTrans" cxnId="{96F63C5D-F4C3-478D-A1F6-4615DA87D0A8}">
      <dgm:prSet/>
      <dgm:spPr/>
      <dgm:t>
        <a:bodyPr/>
        <a:lstStyle/>
        <a:p>
          <a:endParaRPr lang="zh-CN" altLang="en-US"/>
        </a:p>
      </dgm:t>
    </dgm:pt>
    <dgm:pt modelId="{567C1630-3DDC-400E-9C54-0802D97C6132}" type="pres">
      <dgm:prSet presAssocID="{70338393-8F64-4FF2-82D7-481C61375560}" presName="linear" presStyleCnt="0">
        <dgm:presLayoutVars>
          <dgm:animLvl val="lvl"/>
          <dgm:resizeHandles val="exact"/>
        </dgm:presLayoutVars>
      </dgm:prSet>
      <dgm:spPr/>
    </dgm:pt>
    <dgm:pt modelId="{19CA5FCF-DA04-4129-82BC-A7B27C52F68A}" type="pres">
      <dgm:prSet presAssocID="{66988A6C-7766-461B-BD71-3827861417A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6F63C5D-F4C3-478D-A1F6-4615DA87D0A8}" srcId="{70338393-8F64-4FF2-82D7-481C61375560}" destId="{66988A6C-7766-461B-BD71-3827861417A3}" srcOrd="0" destOrd="0" parTransId="{DE6DAE08-E181-47EA-BCD0-0C4E795FB8CE}" sibTransId="{C9D718B0-C3B5-4D6A-9975-CEE566C0B823}"/>
    <dgm:cxn modelId="{2A42F550-2BB7-463D-A0E4-E317D0DFEE3F}" type="presOf" srcId="{70338393-8F64-4FF2-82D7-481C61375560}" destId="{567C1630-3DDC-400E-9C54-0802D97C6132}" srcOrd="0" destOrd="0" presId="urn:microsoft.com/office/officeart/2005/8/layout/vList2"/>
    <dgm:cxn modelId="{491CEEBF-7400-46F5-B7FE-F3C973BE78DA}" type="presOf" srcId="{66988A6C-7766-461B-BD71-3827861417A3}" destId="{19CA5FCF-DA04-4129-82BC-A7B27C52F68A}" srcOrd="0" destOrd="0" presId="urn:microsoft.com/office/officeart/2005/8/layout/vList2"/>
    <dgm:cxn modelId="{618F64D6-4126-4F6E-8E54-39617E7BF24C}" type="presParOf" srcId="{567C1630-3DDC-400E-9C54-0802D97C6132}" destId="{19CA5FCF-DA04-4129-82BC-A7B27C52F68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8360B37-8898-486B-B3BF-84307D1C5167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1134358C-F5CD-407A-AEF8-95D77862EDD1}">
      <dgm:prSet phldrT="[文本]"/>
      <dgm:spPr/>
      <dgm:t>
        <a:bodyPr/>
        <a:lstStyle/>
        <a:p>
          <a:r>
            <a:rPr lang="zh-CN" altLang="en-US" dirty="0"/>
            <a:t>课程模块</a:t>
          </a:r>
        </a:p>
      </dgm:t>
    </dgm:pt>
    <dgm:pt modelId="{8C7F043F-DB00-4A33-8AF7-BA7B5BDC0BF3}" type="parTrans" cxnId="{ECFED0FD-A4F1-4DE8-950D-0CB8FAE54D56}">
      <dgm:prSet/>
      <dgm:spPr/>
      <dgm:t>
        <a:bodyPr/>
        <a:lstStyle/>
        <a:p>
          <a:endParaRPr lang="zh-CN" altLang="en-US"/>
        </a:p>
      </dgm:t>
    </dgm:pt>
    <dgm:pt modelId="{0D6B70A2-EAB5-4F5A-A074-2DC1ED09DED3}" type="sibTrans" cxnId="{ECFED0FD-A4F1-4DE8-950D-0CB8FAE54D56}">
      <dgm:prSet/>
      <dgm:spPr/>
      <dgm:t>
        <a:bodyPr/>
        <a:lstStyle/>
        <a:p>
          <a:endParaRPr lang="zh-CN" altLang="en-US"/>
        </a:p>
      </dgm:t>
    </dgm:pt>
    <dgm:pt modelId="{005FE201-D831-4A6B-8517-C08850DDA323}">
      <dgm:prSet phldrT="[文本]"/>
      <dgm:spPr/>
      <dgm:t>
        <a:bodyPr/>
        <a:lstStyle/>
        <a:p>
          <a:r>
            <a:rPr lang="en-US" altLang="zh-CN" dirty="0"/>
            <a:t>Vue</a:t>
          </a:r>
          <a:r>
            <a:rPr lang="zh-CN" altLang="en-US" dirty="0"/>
            <a:t>基础知识的学习</a:t>
          </a:r>
        </a:p>
      </dgm:t>
    </dgm:pt>
    <dgm:pt modelId="{D5359618-F2F6-4FBE-BE56-0040E84541D4}" type="parTrans" cxnId="{BD85C176-B308-4A23-A3FF-A3726003FE72}">
      <dgm:prSet/>
      <dgm:spPr/>
      <dgm:t>
        <a:bodyPr/>
        <a:lstStyle/>
        <a:p>
          <a:endParaRPr lang="zh-CN" altLang="en-US"/>
        </a:p>
      </dgm:t>
    </dgm:pt>
    <dgm:pt modelId="{B89C4D54-E101-431F-ADE0-D0E7193BD336}" type="sibTrans" cxnId="{BD85C176-B308-4A23-A3FF-A3726003FE72}">
      <dgm:prSet/>
      <dgm:spPr/>
      <dgm:t>
        <a:bodyPr/>
        <a:lstStyle/>
        <a:p>
          <a:endParaRPr lang="zh-CN" altLang="en-US"/>
        </a:p>
      </dgm:t>
    </dgm:pt>
    <dgm:pt modelId="{E5BC6E89-6E66-4C15-864C-97EB23A9681A}">
      <dgm:prSet phldrT="[文本]"/>
      <dgm:spPr/>
      <dgm:t>
        <a:bodyPr/>
        <a:lstStyle/>
        <a:p>
          <a:r>
            <a:rPr lang="en-US" altLang="zh-CN" dirty="0"/>
            <a:t>Vue</a:t>
          </a:r>
          <a:r>
            <a:rPr lang="zh-CN" altLang="en-US" dirty="0"/>
            <a:t>第三方框架的学习</a:t>
          </a:r>
        </a:p>
      </dgm:t>
    </dgm:pt>
    <dgm:pt modelId="{8512CFA2-6C94-4BF3-B0B8-A3B387783395}" type="parTrans" cxnId="{BEB92571-AA33-47BD-85C6-450E17DE9B7B}">
      <dgm:prSet/>
      <dgm:spPr/>
      <dgm:t>
        <a:bodyPr/>
        <a:lstStyle/>
        <a:p>
          <a:endParaRPr lang="zh-CN" altLang="en-US"/>
        </a:p>
      </dgm:t>
    </dgm:pt>
    <dgm:pt modelId="{4D515608-A585-4B7D-B6BF-766032171850}" type="sibTrans" cxnId="{BEB92571-AA33-47BD-85C6-450E17DE9B7B}">
      <dgm:prSet/>
      <dgm:spPr/>
      <dgm:t>
        <a:bodyPr/>
        <a:lstStyle/>
        <a:p>
          <a:endParaRPr lang="zh-CN" altLang="en-US"/>
        </a:p>
      </dgm:t>
    </dgm:pt>
    <dgm:pt modelId="{74936BA3-085C-4348-8559-88AB4547FDA6}">
      <dgm:prSet phldrT="[文本]"/>
      <dgm:spPr/>
      <dgm:t>
        <a:bodyPr/>
        <a:lstStyle/>
        <a:p>
          <a:r>
            <a:rPr lang="en-US" altLang="zh-CN" dirty="0" err="1"/>
            <a:t>SpringBoot</a:t>
          </a:r>
          <a:r>
            <a:rPr lang="zh-CN" altLang="en-US" dirty="0"/>
            <a:t>的基础功能学习</a:t>
          </a:r>
        </a:p>
      </dgm:t>
    </dgm:pt>
    <dgm:pt modelId="{F09FC435-1376-492B-8B59-1221403AFE49}" type="parTrans" cxnId="{E6614824-8FB5-4CFC-BBF2-2B1F964837A9}">
      <dgm:prSet/>
      <dgm:spPr/>
      <dgm:t>
        <a:bodyPr/>
        <a:lstStyle/>
        <a:p>
          <a:endParaRPr lang="zh-CN" altLang="en-US"/>
        </a:p>
      </dgm:t>
    </dgm:pt>
    <dgm:pt modelId="{5C108D9D-8D9F-4F3D-A9BC-EC1A48D5ABB1}" type="sibTrans" cxnId="{E6614824-8FB5-4CFC-BBF2-2B1F964837A9}">
      <dgm:prSet/>
      <dgm:spPr/>
      <dgm:t>
        <a:bodyPr/>
        <a:lstStyle/>
        <a:p>
          <a:endParaRPr lang="zh-CN" altLang="en-US"/>
        </a:p>
      </dgm:t>
    </dgm:pt>
    <dgm:pt modelId="{A9552D60-657F-4073-8047-7B53AADF6E45}">
      <dgm:prSet phldrT="[文本]"/>
      <dgm:spPr/>
      <dgm:t>
        <a:bodyPr/>
        <a:lstStyle/>
        <a:p>
          <a:r>
            <a:rPr lang="en-US" altLang="zh-CN" dirty="0">
              <a:effectLst/>
            </a:rPr>
            <a:t>Vue</a:t>
          </a:r>
          <a:r>
            <a:rPr lang="zh-CN" altLang="en-US" dirty="0">
              <a:effectLst/>
            </a:rPr>
            <a:t>与</a:t>
          </a:r>
          <a:r>
            <a:rPr lang="en-US" altLang="zh-CN" dirty="0" err="1">
              <a:effectLst/>
            </a:rPr>
            <a:t>SpringBoot</a:t>
          </a:r>
          <a:r>
            <a:rPr lang="zh-CN" altLang="en-US" dirty="0">
              <a:effectLst/>
            </a:rPr>
            <a:t>技术的运用</a:t>
          </a:r>
          <a:endParaRPr lang="zh-CN" altLang="en-US" dirty="0"/>
        </a:p>
      </dgm:t>
    </dgm:pt>
    <dgm:pt modelId="{277425E3-5E96-449E-800F-3571C9CA18DB}" type="parTrans" cxnId="{81C2B349-DF3A-44A5-A50A-61A583337CFD}">
      <dgm:prSet/>
      <dgm:spPr/>
      <dgm:t>
        <a:bodyPr/>
        <a:lstStyle/>
        <a:p>
          <a:endParaRPr lang="zh-CN" altLang="en-US"/>
        </a:p>
      </dgm:t>
    </dgm:pt>
    <dgm:pt modelId="{245D17BE-4F47-458E-A586-5090A142D9C7}" type="sibTrans" cxnId="{81C2B349-DF3A-44A5-A50A-61A583337CFD}">
      <dgm:prSet/>
      <dgm:spPr/>
      <dgm:t>
        <a:bodyPr/>
        <a:lstStyle/>
        <a:p>
          <a:endParaRPr lang="zh-CN" altLang="en-US"/>
        </a:p>
      </dgm:t>
    </dgm:pt>
    <dgm:pt modelId="{13DA2196-3C7C-405A-8172-DCD5E2DB8CCC}" type="pres">
      <dgm:prSet presAssocID="{88360B37-8898-486B-B3BF-84307D1C5167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5E19DFA-4F95-4CF4-82CF-66595AE26D5E}" type="pres">
      <dgm:prSet presAssocID="{88360B37-8898-486B-B3BF-84307D1C5167}" presName="matrix" presStyleCnt="0"/>
      <dgm:spPr/>
    </dgm:pt>
    <dgm:pt modelId="{98EBE23D-03FF-4737-95EA-9CE64A1EBA7A}" type="pres">
      <dgm:prSet presAssocID="{88360B37-8898-486B-B3BF-84307D1C5167}" presName="tile1" presStyleLbl="node1" presStyleIdx="0" presStyleCnt="4"/>
      <dgm:spPr/>
    </dgm:pt>
    <dgm:pt modelId="{0CD71E48-69F9-4098-956E-1CA77D8B0F09}" type="pres">
      <dgm:prSet presAssocID="{88360B37-8898-486B-B3BF-84307D1C5167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14EAB1B-5917-43EB-A0B2-1B40DA0C82AE}" type="pres">
      <dgm:prSet presAssocID="{88360B37-8898-486B-B3BF-84307D1C5167}" presName="tile2" presStyleLbl="node1" presStyleIdx="1" presStyleCnt="4"/>
      <dgm:spPr/>
    </dgm:pt>
    <dgm:pt modelId="{97CDFC1C-D762-49AC-8726-408099913EF7}" type="pres">
      <dgm:prSet presAssocID="{88360B37-8898-486B-B3BF-84307D1C5167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ADC7B21-69A7-4789-B555-A433A00468CB}" type="pres">
      <dgm:prSet presAssocID="{88360B37-8898-486B-B3BF-84307D1C5167}" presName="tile3" presStyleLbl="node1" presStyleIdx="2" presStyleCnt="4"/>
      <dgm:spPr/>
    </dgm:pt>
    <dgm:pt modelId="{9BC49141-F944-48EC-B091-1CB9833F5798}" type="pres">
      <dgm:prSet presAssocID="{88360B37-8898-486B-B3BF-84307D1C5167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FF2C6A2-7DF5-487F-872E-4D89563729DE}" type="pres">
      <dgm:prSet presAssocID="{88360B37-8898-486B-B3BF-84307D1C5167}" presName="tile4" presStyleLbl="node1" presStyleIdx="3" presStyleCnt="4"/>
      <dgm:spPr/>
    </dgm:pt>
    <dgm:pt modelId="{378A3DD1-F256-411B-ADF6-DB9DFD0F5C70}" type="pres">
      <dgm:prSet presAssocID="{88360B37-8898-486B-B3BF-84307D1C5167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CB182E0C-71F4-4148-8BB8-F63910A53333}" type="pres">
      <dgm:prSet presAssocID="{88360B37-8898-486B-B3BF-84307D1C5167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98F7F815-1B42-4850-8F74-01E517B5274D}" type="presOf" srcId="{E5BC6E89-6E66-4C15-864C-97EB23A9681A}" destId="{97CDFC1C-D762-49AC-8726-408099913EF7}" srcOrd="1" destOrd="0" presId="urn:microsoft.com/office/officeart/2005/8/layout/matrix1"/>
    <dgm:cxn modelId="{E6614824-8FB5-4CFC-BBF2-2B1F964837A9}" srcId="{1134358C-F5CD-407A-AEF8-95D77862EDD1}" destId="{74936BA3-085C-4348-8559-88AB4547FDA6}" srcOrd="2" destOrd="0" parTransId="{F09FC435-1376-492B-8B59-1221403AFE49}" sibTransId="{5C108D9D-8D9F-4F3D-A9BC-EC1A48D5ABB1}"/>
    <dgm:cxn modelId="{73523537-D1EF-4A28-BBCB-209AE7C1E50A}" type="presOf" srcId="{005FE201-D831-4A6B-8517-C08850DDA323}" destId="{0CD71E48-69F9-4098-956E-1CA77D8B0F09}" srcOrd="1" destOrd="0" presId="urn:microsoft.com/office/officeart/2005/8/layout/matrix1"/>
    <dgm:cxn modelId="{6A804460-3220-4660-9F40-98D65D5A5121}" type="presOf" srcId="{005FE201-D831-4A6B-8517-C08850DDA323}" destId="{98EBE23D-03FF-4737-95EA-9CE64A1EBA7A}" srcOrd="0" destOrd="0" presId="urn:microsoft.com/office/officeart/2005/8/layout/matrix1"/>
    <dgm:cxn modelId="{8803E766-3FC8-4320-BFCC-ED4EAAC61180}" type="presOf" srcId="{74936BA3-085C-4348-8559-88AB4547FDA6}" destId="{FADC7B21-69A7-4789-B555-A433A00468CB}" srcOrd="0" destOrd="0" presId="urn:microsoft.com/office/officeart/2005/8/layout/matrix1"/>
    <dgm:cxn modelId="{8E3BB368-B355-4436-8656-2C37AFB6519A}" type="presOf" srcId="{74936BA3-085C-4348-8559-88AB4547FDA6}" destId="{9BC49141-F944-48EC-B091-1CB9833F5798}" srcOrd="1" destOrd="0" presId="urn:microsoft.com/office/officeart/2005/8/layout/matrix1"/>
    <dgm:cxn modelId="{81C2B349-DF3A-44A5-A50A-61A583337CFD}" srcId="{1134358C-F5CD-407A-AEF8-95D77862EDD1}" destId="{A9552D60-657F-4073-8047-7B53AADF6E45}" srcOrd="3" destOrd="0" parTransId="{277425E3-5E96-449E-800F-3571C9CA18DB}" sibTransId="{245D17BE-4F47-458E-A586-5090A142D9C7}"/>
    <dgm:cxn modelId="{BEB92571-AA33-47BD-85C6-450E17DE9B7B}" srcId="{1134358C-F5CD-407A-AEF8-95D77862EDD1}" destId="{E5BC6E89-6E66-4C15-864C-97EB23A9681A}" srcOrd="1" destOrd="0" parTransId="{8512CFA2-6C94-4BF3-B0B8-A3B387783395}" sibTransId="{4D515608-A585-4B7D-B6BF-766032171850}"/>
    <dgm:cxn modelId="{A7588F71-0FBF-42DA-8322-261F1B007EE9}" type="presOf" srcId="{A9552D60-657F-4073-8047-7B53AADF6E45}" destId="{8FF2C6A2-7DF5-487F-872E-4D89563729DE}" srcOrd="0" destOrd="0" presId="urn:microsoft.com/office/officeart/2005/8/layout/matrix1"/>
    <dgm:cxn modelId="{BD85C176-B308-4A23-A3FF-A3726003FE72}" srcId="{1134358C-F5CD-407A-AEF8-95D77862EDD1}" destId="{005FE201-D831-4A6B-8517-C08850DDA323}" srcOrd="0" destOrd="0" parTransId="{D5359618-F2F6-4FBE-BE56-0040E84541D4}" sibTransId="{B89C4D54-E101-431F-ADE0-D0E7193BD336}"/>
    <dgm:cxn modelId="{62A41577-EDBD-42F1-923F-C4A71A317DF6}" type="presOf" srcId="{88360B37-8898-486B-B3BF-84307D1C5167}" destId="{13DA2196-3C7C-405A-8172-DCD5E2DB8CCC}" srcOrd="0" destOrd="0" presId="urn:microsoft.com/office/officeart/2005/8/layout/matrix1"/>
    <dgm:cxn modelId="{4A97495A-51F5-4690-8A8F-C226113CF21A}" type="presOf" srcId="{A9552D60-657F-4073-8047-7B53AADF6E45}" destId="{378A3DD1-F256-411B-ADF6-DB9DFD0F5C70}" srcOrd="1" destOrd="0" presId="urn:microsoft.com/office/officeart/2005/8/layout/matrix1"/>
    <dgm:cxn modelId="{AC1CBDC3-418E-4B0F-92AD-88F64F7C9752}" type="presOf" srcId="{1134358C-F5CD-407A-AEF8-95D77862EDD1}" destId="{CB182E0C-71F4-4148-8BB8-F63910A53333}" srcOrd="0" destOrd="0" presId="urn:microsoft.com/office/officeart/2005/8/layout/matrix1"/>
    <dgm:cxn modelId="{E85BAEDF-5B55-4AA5-8468-FFEA37E96777}" type="presOf" srcId="{E5BC6E89-6E66-4C15-864C-97EB23A9681A}" destId="{214EAB1B-5917-43EB-A0B2-1B40DA0C82AE}" srcOrd="0" destOrd="0" presId="urn:microsoft.com/office/officeart/2005/8/layout/matrix1"/>
    <dgm:cxn modelId="{ECFED0FD-A4F1-4DE8-950D-0CB8FAE54D56}" srcId="{88360B37-8898-486B-B3BF-84307D1C5167}" destId="{1134358C-F5CD-407A-AEF8-95D77862EDD1}" srcOrd="0" destOrd="0" parTransId="{8C7F043F-DB00-4A33-8AF7-BA7B5BDC0BF3}" sibTransId="{0D6B70A2-EAB5-4F5A-A074-2DC1ED09DED3}"/>
    <dgm:cxn modelId="{A7B2C7D5-EA60-4357-89FA-98B1D0AA7D13}" type="presParOf" srcId="{13DA2196-3C7C-405A-8172-DCD5E2DB8CCC}" destId="{95E19DFA-4F95-4CF4-82CF-66595AE26D5E}" srcOrd="0" destOrd="0" presId="urn:microsoft.com/office/officeart/2005/8/layout/matrix1"/>
    <dgm:cxn modelId="{758A34B5-753D-4FD7-AEA8-DA83BF87C84B}" type="presParOf" srcId="{95E19DFA-4F95-4CF4-82CF-66595AE26D5E}" destId="{98EBE23D-03FF-4737-95EA-9CE64A1EBA7A}" srcOrd="0" destOrd="0" presId="urn:microsoft.com/office/officeart/2005/8/layout/matrix1"/>
    <dgm:cxn modelId="{88B75755-93F8-4EBF-9250-8F3F3F36A76E}" type="presParOf" srcId="{95E19DFA-4F95-4CF4-82CF-66595AE26D5E}" destId="{0CD71E48-69F9-4098-956E-1CA77D8B0F09}" srcOrd="1" destOrd="0" presId="urn:microsoft.com/office/officeart/2005/8/layout/matrix1"/>
    <dgm:cxn modelId="{95CC9359-EE01-45C9-AD49-68B573F168A0}" type="presParOf" srcId="{95E19DFA-4F95-4CF4-82CF-66595AE26D5E}" destId="{214EAB1B-5917-43EB-A0B2-1B40DA0C82AE}" srcOrd="2" destOrd="0" presId="urn:microsoft.com/office/officeart/2005/8/layout/matrix1"/>
    <dgm:cxn modelId="{785F7111-8D6D-41E2-B7A4-DBC59159B70C}" type="presParOf" srcId="{95E19DFA-4F95-4CF4-82CF-66595AE26D5E}" destId="{97CDFC1C-D762-49AC-8726-408099913EF7}" srcOrd="3" destOrd="0" presId="urn:microsoft.com/office/officeart/2005/8/layout/matrix1"/>
    <dgm:cxn modelId="{829F44AF-2926-46DB-AB48-FD2A38049AF9}" type="presParOf" srcId="{95E19DFA-4F95-4CF4-82CF-66595AE26D5E}" destId="{FADC7B21-69A7-4789-B555-A433A00468CB}" srcOrd="4" destOrd="0" presId="urn:microsoft.com/office/officeart/2005/8/layout/matrix1"/>
    <dgm:cxn modelId="{06B454C6-5F69-4C36-8737-23856CFDF2EC}" type="presParOf" srcId="{95E19DFA-4F95-4CF4-82CF-66595AE26D5E}" destId="{9BC49141-F944-48EC-B091-1CB9833F5798}" srcOrd="5" destOrd="0" presId="urn:microsoft.com/office/officeart/2005/8/layout/matrix1"/>
    <dgm:cxn modelId="{0A24647F-691D-4A04-B3F4-24EDF6B44B71}" type="presParOf" srcId="{95E19DFA-4F95-4CF4-82CF-66595AE26D5E}" destId="{8FF2C6A2-7DF5-487F-872E-4D89563729DE}" srcOrd="6" destOrd="0" presId="urn:microsoft.com/office/officeart/2005/8/layout/matrix1"/>
    <dgm:cxn modelId="{B120B323-9631-493D-8765-B9D1DD01933E}" type="presParOf" srcId="{95E19DFA-4F95-4CF4-82CF-66595AE26D5E}" destId="{378A3DD1-F256-411B-ADF6-DB9DFD0F5C70}" srcOrd="7" destOrd="0" presId="urn:microsoft.com/office/officeart/2005/8/layout/matrix1"/>
    <dgm:cxn modelId="{72C452D5-F728-4DC1-B20C-DA78A72B1810}" type="presParOf" srcId="{13DA2196-3C7C-405A-8172-DCD5E2DB8CCC}" destId="{CB182E0C-71F4-4148-8BB8-F63910A53333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1C8D397-2AE3-4EA1-8B97-5A8B317E42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DB77D432-1164-46C3-BA51-5EA6026D3208}">
      <dgm:prSet/>
      <dgm:spPr>
        <a:solidFill>
          <a:srgbClr val="00B0F0"/>
        </a:solidFill>
      </dgm:spPr>
      <dgm:t>
        <a:bodyPr/>
        <a:lstStyle/>
        <a:p>
          <a:pPr rtl="0"/>
          <a:r>
            <a:rPr lang="zh-CN" altLang="en-US" dirty="0"/>
            <a:t>工业</a:t>
          </a:r>
          <a:r>
            <a:rPr lang="en-US" altLang="zh-CN" dirty="0"/>
            <a:t>APP</a:t>
          </a:r>
          <a:r>
            <a:rPr lang="zh-CN" altLang="en-US" dirty="0"/>
            <a:t>综合开发</a:t>
          </a:r>
          <a:r>
            <a:rPr lang="zh-CN" dirty="0"/>
            <a:t>为</a:t>
          </a:r>
          <a:r>
            <a:rPr lang="zh-CN" altLang="en-US" dirty="0"/>
            <a:t>考试</a:t>
          </a:r>
          <a:r>
            <a:rPr lang="zh-CN" dirty="0"/>
            <a:t>课，</a:t>
          </a:r>
          <a:r>
            <a:rPr lang="zh-CN" altLang="en-US" dirty="0"/>
            <a:t>考核</a:t>
          </a:r>
          <a:r>
            <a:rPr lang="zh-CN" dirty="0"/>
            <a:t>分</a:t>
          </a:r>
          <a:r>
            <a:rPr lang="zh-CN" altLang="en-US" dirty="0"/>
            <a:t>两</a:t>
          </a:r>
          <a:r>
            <a:rPr lang="zh-CN" dirty="0"/>
            <a:t>个部分。</a:t>
          </a:r>
        </a:p>
      </dgm:t>
    </dgm:pt>
    <dgm:pt modelId="{352E9D5E-4552-460B-B67A-35640D8ABCC0}" type="parTrans" cxnId="{D038C266-F547-4B88-BB77-8F6B12D9270C}">
      <dgm:prSet/>
      <dgm:spPr/>
      <dgm:t>
        <a:bodyPr/>
        <a:lstStyle/>
        <a:p>
          <a:endParaRPr lang="zh-CN" altLang="en-US"/>
        </a:p>
      </dgm:t>
    </dgm:pt>
    <dgm:pt modelId="{1C66DDCB-91B0-473F-8E96-11199FC31AC2}" type="sibTrans" cxnId="{D038C266-F547-4B88-BB77-8F6B12D9270C}">
      <dgm:prSet/>
      <dgm:spPr/>
      <dgm:t>
        <a:bodyPr/>
        <a:lstStyle/>
        <a:p>
          <a:endParaRPr lang="zh-CN" altLang="en-US"/>
        </a:p>
      </dgm:t>
    </dgm:pt>
    <dgm:pt modelId="{9A7E9D7C-7BC8-4609-A77C-7AD6419AC76D}">
      <dgm:prSet/>
      <dgm:spPr/>
      <dgm:t>
        <a:bodyPr/>
        <a:lstStyle/>
        <a:p>
          <a:pPr rtl="0"/>
          <a:endParaRPr lang="zh-CN" dirty="0"/>
        </a:p>
      </dgm:t>
    </dgm:pt>
    <dgm:pt modelId="{4635DB58-F55D-4354-BC5A-232FDCE5C4E1}" type="parTrans" cxnId="{2D4AB967-8C1C-42E2-935B-D24CFEEC82CE}">
      <dgm:prSet/>
      <dgm:spPr/>
      <dgm:t>
        <a:bodyPr/>
        <a:lstStyle/>
        <a:p>
          <a:endParaRPr lang="zh-CN" altLang="en-US"/>
        </a:p>
      </dgm:t>
    </dgm:pt>
    <dgm:pt modelId="{F4A06E22-A334-449D-93C3-DB6F98B5817D}" type="sibTrans" cxnId="{2D4AB967-8C1C-42E2-935B-D24CFEEC82CE}">
      <dgm:prSet/>
      <dgm:spPr/>
      <dgm:t>
        <a:bodyPr/>
        <a:lstStyle/>
        <a:p>
          <a:endParaRPr lang="zh-CN" altLang="en-US"/>
        </a:p>
      </dgm:t>
    </dgm:pt>
    <dgm:pt modelId="{73DF33D9-9877-4DC7-9B3C-F79DE5341560}">
      <dgm:prSet/>
      <dgm:spPr/>
      <dgm:t>
        <a:bodyPr/>
        <a:lstStyle/>
        <a:p>
          <a:pPr rtl="0"/>
          <a:r>
            <a:rPr lang="zh-CN" altLang="en-US" b="1" dirty="0"/>
            <a:t>平时成绩：包含出勤情况、课堂提问、学生作业、平时表现确定（占</a:t>
          </a:r>
          <a:r>
            <a:rPr lang="en-US" altLang="zh-CN" b="1" dirty="0"/>
            <a:t>60%</a:t>
          </a:r>
          <a:r>
            <a:rPr lang="zh-CN" altLang="en-US" b="1" dirty="0"/>
            <a:t>）。</a:t>
          </a:r>
          <a:endParaRPr lang="zh-CN" b="1" dirty="0"/>
        </a:p>
      </dgm:t>
    </dgm:pt>
    <dgm:pt modelId="{79100794-6C92-4A8A-899B-0C52692E68FB}" type="parTrans" cxnId="{5A1B47FD-8ACA-4B84-A753-516914881942}">
      <dgm:prSet/>
      <dgm:spPr/>
      <dgm:t>
        <a:bodyPr/>
        <a:lstStyle/>
        <a:p>
          <a:endParaRPr lang="zh-CN" altLang="en-US"/>
        </a:p>
      </dgm:t>
    </dgm:pt>
    <dgm:pt modelId="{0E8E9A51-1E77-4DA7-88AD-A6C82101F73D}" type="sibTrans" cxnId="{5A1B47FD-8ACA-4B84-A753-516914881942}">
      <dgm:prSet/>
      <dgm:spPr/>
      <dgm:t>
        <a:bodyPr/>
        <a:lstStyle/>
        <a:p>
          <a:endParaRPr lang="zh-CN" altLang="en-US"/>
        </a:p>
      </dgm:t>
    </dgm:pt>
    <dgm:pt modelId="{A60F5F18-A856-43D0-A34B-A36E815887AC}">
      <dgm:prSet/>
      <dgm:spPr/>
      <dgm:t>
        <a:bodyPr/>
        <a:lstStyle/>
        <a:p>
          <a:r>
            <a:rPr lang="zh-CN" altLang="en-US" b="1" dirty="0"/>
            <a:t>知识成绩：通过理论考试，确定是否掌握了理论知识（占</a:t>
          </a:r>
          <a:r>
            <a:rPr lang="en-US" altLang="zh-CN" b="1" dirty="0"/>
            <a:t>40%</a:t>
          </a:r>
          <a:r>
            <a:rPr lang="zh-CN" altLang="en-US" b="1" dirty="0"/>
            <a:t>）。</a:t>
          </a:r>
        </a:p>
      </dgm:t>
    </dgm:pt>
    <dgm:pt modelId="{E4F207E8-D2C5-4ADC-8DB9-1DA13C335318}" type="parTrans" cxnId="{2F5479B9-8EB9-497B-BCAC-40A071CB38BD}">
      <dgm:prSet/>
      <dgm:spPr/>
      <dgm:t>
        <a:bodyPr/>
        <a:lstStyle/>
        <a:p>
          <a:endParaRPr lang="zh-CN" altLang="en-US"/>
        </a:p>
      </dgm:t>
    </dgm:pt>
    <dgm:pt modelId="{25DEE996-ECCA-46F2-9D3F-43531E3D0FC9}" type="sibTrans" cxnId="{2F5479B9-8EB9-497B-BCAC-40A071CB38BD}">
      <dgm:prSet/>
      <dgm:spPr/>
      <dgm:t>
        <a:bodyPr/>
        <a:lstStyle/>
        <a:p>
          <a:endParaRPr lang="zh-CN" altLang="en-US"/>
        </a:p>
      </dgm:t>
    </dgm:pt>
    <dgm:pt modelId="{2B76214F-E190-4256-9537-6B9FF28947CA}" type="pres">
      <dgm:prSet presAssocID="{E1C8D397-2AE3-4EA1-8B97-5A8B317E4246}" presName="linear" presStyleCnt="0">
        <dgm:presLayoutVars>
          <dgm:animLvl val="lvl"/>
          <dgm:resizeHandles val="exact"/>
        </dgm:presLayoutVars>
      </dgm:prSet>
      <dgm:spPr/>
    </dgm:pt>
    <dgm:pt modelId="{C5D0AF13-D682-4DD2-874A-9AFA4499AC4C}" type="pres">
      <dgm:prSet presAssocID="{DB77D432-1164-46C3-BA51-5EA6026D3208}" presName="parentText" presStyleLbl="node1" presStyleIdx="0" presStyleCnt="1" custScaleY="64627" custLinFactNeighborY="-9861">
        <dgm:presLayoutVars>
          <dgm:chMax val="0"/>
          <dgm:bulletEnabled val="1"/>
        </dgm:presLayoutVars>
      </dgm:prSet>
      <dgm:spPr/>
    </dgm:pt>
    <dgm:pt modelId="{F1808283-1A7A-4CB5-B13A-796BD5C59D24}" type="pres">
      <dgm:prSet presAssocID="{DB77D432-1164-46C3-BA51-5EA6026D3208}" presName="childText" presStyleLbl="revTx" presStyleIdx="0" presStyleCnt="1" custScaleX="100000" custScaleY="43780">
        <dgm:presLayoutVars>
          <dgm:bulletEnabled val="1"/>
        </dgm:presLayoutVars>
      </dgm:prSet>
      <dgm:spPr/>
    </dgm:pt>
  </dgm:ptLst>
  <dgm:cxnLst>
    <dgm:cxn modelId="{A922662F-8218-4B08-B659-FE33B374EB7A}" type="presOf" srcId="{DB77D432-1164-46C3-BA51-5EA6026D3208}" destId="{C5D0AF13-D682-4DD2-874A-9AFA4499AC4C}" srcOrd="0" destOrd="0" presId="urn:microsoft.com/office/officeart/2005/8/layout/vList2"/>
    <dgm:cxn modelId="{D038C266-F547-4B88-BB77-8F6B12D9270C}" srcId="{E1C8D397-2AE3-4EA1-8B97-5A8B317E4246}" destId="{DB77D432-1164-46C3-BA51-5EA6026D3208}" srcOrd="0" destOrd="0" parTransId="{352E9D5E-4552-460B-B67A-35640D8ABCC0}" sibTransId="{1C66DDCB-91B0-473F-8E96-11199FC31AC2}"/>
    <dgm:cxn modelId="{2D4AB967-8C1C-42E2-935B-D24CFEEC82CE}" srcId="{DB77D432-1164-46C3-BA51-5EA6026D3208}" destId="{9A7E9D7C-7BC8-4609-A77C-7AD6419AC76D}" srcOrd="0" destOrd="0" parTransId="{4635DB58-F55D-4354-BC5A-232FDCE5C4E1}" sibTransId="{F4A06E22-A334-449D-93C3-DB6F98B5817D}"/>
    <dgm:cxn modelId="{4F13546C-104C-47CD-8533-309A3CF29B17}" type="presOf" srcId="{E1C8D397-2AE3-4EA1-8B97-5A8B317E4246}" destId="{2B76214F-E190-4256-9537-6B9FF28947CA}" srcOrd="0" destOrd="0" presId="urn:microsoft.com/office/officeart/2005/8/layout/vList2"/>
    <dgm:cxn modelId="{FC6E6B89-EF23-4F54-908A-BF8763CB6E94}" type="presOf" srcId="{9A7E9D7C-7BC8-4609-A77C-7AD6419AC76D}" destId="{F1808283-1A7A-4CB5-B13A-796BD5C59D24}" srcOrd="0" destOrd="0" presId="urn:microsoft.com/office/officeart/2005/8/layout/vList2"/>
    <dgm:cxn modelId="{2F5479B9-8EB9-497B-BCAC-40A071CB38BD}" srcId="{DB77D432-1164-46C3-BA51-5EA6026D3208}" destId="{A60F5F18-A856-43D0-A34B-A36E815887AC}" srcOrd="2" destOrd="0" parTransId="{E4F207E8-D2C5-4ADC-8DB9-1DA13C335318}" sibTransId="{25DEE996-ECCA-46F2-9D3F-43531E3D0FC9}"/>
    <dgm:cxn modelId="{FA79F3D7-39EC-48DB-A937-518E169EBAF7}" type="presOf" srcId="{73DF33D9-9877-4DC7-9B3C-F79DE5341560}" destId="{F1808283-1A7A-4CB5-B13A-796BD5C59D24}" srcOrd="0" destOrd="1" presId="urn:microsoft.com/office/officeart/2005/8/layout/vList2"/>
    <dgm:cxn modelId="{447C0CEF-3B4F-4603-9965-3CC956B539F0}" type="presOf" srcId="{A60F5F18-A856-43D0-A34B-A36E815887AC}" destId="{F1808283-1A7A-4CB5-B13A-796BD5C59D24}" srcOrd="0" destOrd="2" presId="urn:microsoft.com/office/officeart/2005/8/layout/vList2"/>
    <dgm:cxn modelId="{5A1B47FD-8ACA-4B84-A753-516914881942}" srcId="{DB77D432-1164-46C3-BA51-5EA6026D3208}" destId="{73DF33D9-9877-4DC7-9B3C-F79DE5341560}" srcOrd="1" destOrd="0" parTransId="{79100794-6C92-4A8A-899B-0C52692E68FB}" sibTransId="{0E8E9A51-1E77-4DA7-88AD-A6C82101F73D}"/>
    <dgm:cxn modelId="{9B40D329-B5ED-40E5-8000-BE6E69BFB51C}" type="presParOf" srcId="{2B76214F-E190-4256-9537-6B9FF28947CA}" destId="{C5D0AF13-D682-4DD2-874A-9AFA4499AC4C}" srcOrd="0" destOrd="0" presId="urn:microsoft.com/office/officeart/2005/8/layout/vList2"/>
    <dgm:cxn modelId="{A8DD53B9-84B8-4958-A223-8AA215638A05}" type="presParOf" srcId="{2B76214F-E190-4256-9537-6B9FF28947CA}" destId="{F1808283-1A7A-4CB5-B13A-796BD5C59D2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A5FCF-DA04-4129-82BC-A7B27C52F68A}">
      <dsp:nvSpPr>
        <dsp:cNvPr id="0" name=""/>
        <dsp:cNvSpPr/>
      </dsp:nvSpPr>
      <dsp:spPr>
        <a:xfrm>
          <a:off x="0" y="205713"/>
          <a:ext cx="10967170" cy="3182400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457200" algn="l" defTabSz="1511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400" kern="1200" dirty="0"/>
            <a:t>该课程</a:t>
          </a:r>
          <a:r>
            <a:rPr lang="zh-CN" sz="3400" kern="1200" dirty="0"/>
            <a:t>是</a:t>
          </a:r>
          <a:r>
            <a:rPr lang="zh-CN" altLang="en-US" sz="3400" kern="1200" dirty="0"/>
            <a:t>软件技术及相关专业的专业核心课程，是培养学生熟练运用</a:t>
          </a:r>
          <a:r>
            <a:rPr lang="en-US" altLang="zh-CN" sz="3400" kern="1200" dirty="0"/>
            <a:t>Web</a:t>
          </a:r>
          <a:r>
            <a:rPr lang="zh-CN" altLang="en-US" sz="3400" kern="1200" dirty="0"/>
            <a:t>前端技术并结合</a:t>
          </a:r>
          <a:r>
            <a:rPr lang="en-US" altLang="zh-CN" sz="3400" kern="1200" dirty="0" err="1"/>
            <a:t>SpringBoot</a:t>
          </a:r>
          <a:r>
            <a:rPr lang="zh-CN" altLang="en-US" sz="3400" kern="1200" dirty="0"/>
            <a:t>初级技术进行页面与功能的开发学习。为后续</a:t>
          </a:r>
          <a:r>
            <a:rPr lang="en-US" altLang="zh-CN" sz="3400" kern="1200" dirty="0" err="1"/>
            <a:t>Uniapp</a:t>
          </a:r>
          <a:r>
            <a:rPr lang="zh-CN" altLang="en-US" sz="3400" kern="1200" dirty="0"/>
            <a:t>等综合技术应用做铺垫，对从事企业级开发起决定性作用。</a:t>
          </a:r>
          <a:endParaRPr lang="zh-CN" sz="3400" kern="1200" dirty="0"/>
        </a:p>
      </dsp:txBody>
      <dsp:txXfrm>
        <a:off x="155352" y="361065"/>
        <a:ext cx="10656466" cy="28716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EBE23D-03FF-4737-95EA-9CE64A1EBA7A}">
      <dsp:nvSpPr>
        <dsp:cNvPr id="0" name=""/>
        <dsp:cNvSpPr/>
      </dsp:nvSpPr>
      <dsp:spPr>
        <a:xfrm rot="16200000">
          <a:off x="677333" y="-677333"/>
          <a:ext cx="2709332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Vue</a:t>
          </a:r>
          <a:r>
            <a:rPr lang="zh-CN" altLang="en-US" sz="3600" kern="1200" dirty="0"/>
            <a:t>基础知识的学习</a:t>
          </a:r>
        </a:p>
      </dsp:txBody>
      <dsp:txXfrm rot="5400000">
        <a:off x="0" y="0"/>
        <a:ext cx="4064000" cy="2031999"/>
      </dsp:txXfrm>
    </dsp:sp>
    <dsp:sp modelId="{214EAB1B-5917-43EB-A0B2-1B40DA0C82AE}">
      <dsp:nvSpPr>
        <dsp:cNvPr id="0" name=""/>
        <dsp:cNvSpPr/>
      </dsp:nvSpPr>
      <dsp:spPr>
        <a:xfrm>
          <a:off x="4064000" y="0"/>
          <a:ext cx="4064000" cy="2709332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/>
            <a:t>Vue</a:t>
          </a:r>
          <a:r>
            <a:rPr lang="zh-CN" altLang="en-US" sz="3600" kern="1200" dirty="0"/>
            <a:t>第三方框架的学习</a:t>
          </a:r>
        </a:p>
      </dsp:txBody>
      <dsp:txXfrm>
        <a:off x="4064000" y="0"/>
        <a:ext cx="4064000" cy="2031999"/>
      </dsp:txXfrm>
    </dsp:sp>
    <dsp:sp modelId="{FADC7B21-69A7-4789-B555-A433A00468CB}">
      <dsp:nvSpPr>
        <dsp:cNvPr id="0" name=""/>
        <dsp:cNvSpPr/>
      </dsp:nvSpPr>
      <dsp:spPr>
        <a:xfrm rot="10800000">
          <a:off x="0" y="2709332"/>
          <a:ext cx="4064000" cy="2709332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 err="1"/>
            <a:t>SpringBoot</a:t>
          </a:r>
          <a:r>
            <a:rPr lang="zh-CN" altLang="en-US" sz="3600" kern="1200" dirty="0"/>
            <a:t>的基础功能学习</a:t>
          </a:r>
        </a:p>
      </dsp:txBody>
      <dsp:txXfrm rot="10800000">
        <a:off x="0" y="3386666"/>
        <a:ext cx="4064000" cy="2031999"/>
      </dsp:txXfrm>
    </dsp:sp>
    <dsp:sp modelId="{8FF2C6A2-7DF5-487F-872E-4D89563729DE}">
      <dsp:nvSpPr>
        <dsp:cNvPr id="0" name=""/>
        <dsp:cNvSpPr/>
      </dsp:nvSpPr>
      <dsp:spPr>
        <a:xfrm rot="5400000">
          <a:off x="4741334" y="2031999"/>
          <a:ext cx="2709332" cy="4064000"/>
        </a:xfrm>
        <a:prstGeom prst="round1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3600" kern="1200" dirty="0">
              <a:effectLst/>
            </a:rPr>
            <a:t>Vue</a:t>
          </a:r>
          <a:r>
            <a:rPr lang="zh-CN" altLang="en-US" sz="3600" kern="1200" dirty="0">
              <a:effectLst/>
            </a:rPr>
            <a:t>与</a:t>
          </a:r>
          <a:r>
            <a:rPr lang="en-US" altLang="zh-CN" sz="3600" kern="1200" dirty="0" err="1">
              <a:effectLst/>
            </a:rPr>
            <a:t>SpringBoot</a:t>
          </a:r>
          <a:r>
            <a:rPr lang="zh-CN" altLang="en-US" sz="3600" kern="1200" dirty="0">
              <a:effectLst/>
            </a:rPr>
            <a:t>技术的运用</a:t>
          </a:r>
          <a:endParaRPr lang="zh-CN" altLang="en-US" sz="3600" kern="1200" dirty="0"/>
        </a:p>
      </dsp:txBody>
      <dsp:txXfrm rot="-5400000">
        <a:off x="4064000" y="3386665"/>
        <a:ext cx="4064000" cy="2031999"/>
      </dsp:txXfrm>
    </dsp:sp>
    <dsp:sp modelId="{CB182E0C-71F4-4148-8BB8-F63910A53333}">
      <dsp:nvSpPr>
        <dsp:cNvPr id="0" name=""/>
        <dsp:cNvSpPr/>
      </dsp:nvSpPr>
      <dsp:spPr>
        <a:xfrm>
          <a:off x="2844800" y="2031999"/>
          <a:ext cx="2438400" cy="1354666"/>
        </a:xfrm>
        <a:prstGeom prst="roundRect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3600" kern="1200" dirty="0"/>
            <a:t>课程模块</a:t>
          </a:r>
        </a:p>
      </dsp:txBody>
      <dsp:txXfrm>
        <a:off x="2910929" y="2098128"/>
        <a:ext cx="2306142" cy="12224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D0AF13-D682-4DD2-874A-9AFA4499AC4C}">
      <dsp:nvSpPr>
        <dsp:cNvPr id="0" name=""/>
        <dsp:cNvSpPr/>
      </dsp:nvSpPr>
      <dsp:spPr>
        <a:xfrm>
          <a:off x="0" y="0"/>
          <a:ext cx="10182507" cy="1497149"/>
        </a:xfrm>
        <a:prstGeom prst="roundRect">
          <a:avLst/>
        </a:prstGeom>
        <a:solidFill>
          <a:srgbClr val="00B0F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工业</a:t>
          </a:r>
          <a:r>
            <a:rPr lang="en-US" altLang="zh-CN" sz="2800" kern="1200" dirty="0"/>
            <a:t>APP</a:t>
          </a:r>
          <a:r>
            <a:rPr lang="zh-CN" altLang="en-US" sz="2800" kern="1200" dirty="0"/>
            <a:t>综合开发</a:t>
          </a:r>
          <a:r>
            <a:rPr lang="zh-CN" sz="2800" kern="1200" dirty="0"/>
            <a:t>为</a:t>
          </a:r>
          <a:r>
            <a:rPr lang="zh-CN" altLang="en-US" sz="2800" kern="1200" dirty="0"/>
            <a:t>考试</a:t>
          </a:r>
          <a:r>
            <a:rPr lang="zh-CN" sz="2800" kern="1200" dirty="0"/>
            <a:t>课，</a:t>
          </a:r>
          <a:r>
            <a:rPr lang="zh-CN" altLang="en-US" sz="2800" kern="1200" dirty="0"/>
            <a:t>考核</a:t>
          </a:r>
          <a:r>
            <a:rPr lang="zh-CN" sz="2800" kern="1200" dirty="0"/>
            <a:t>分</a:t>
          </a:r>
          <a:r>
            <a:rPr lang="zh-CN" altLang="en-US" sz="2800" kern="1200" dirty="0"/>
            <a:t>两</a:t>
          </a:r>
          <a:r>
            <a:rPr lang="zh-CN" sz="2800" kern="1200" dirty="0"/>
            <a:t>个部分。</a:t>
          </a:r>
        </a:p>
      </dsp:txBody>
      <dsp:txXfrm>
        <a:off x="73085" y="73085"/>
        <a:ext cx="10036337" cy="1350979"/>
      </dsp:txXfrm>
    </dsp:sp>
    <dsp:sp modelId="{F1808283-1A7A-4CB5-B13A-796BD5C59D24}">
      <dsp:nvSpPr>
        <dsp:cNvPr id="0" name=""/>
        <dsp:cNvSpPr/>
      </dsp:nvSpPr>
      <dsp:spPr>
        <a:xfrm>
          <a:off x="0" y="1500897"/>
          <a:ext cx="10182507" cy="1549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23295" tIns="35560" rIns="199136" bIns="35560" numCol="1" spcCol="1270" anchor="t" anchorCtr="0">
          <a:noAutofit/>
        </a:bodyPr>
        <a:lstStyle/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zh-CN" altLang="en-US" sz="2200" kern="1200" dirty="0"/>
        </a:p>
        <a:p>
          <a:pPr marL="228600" lvl="1" indent="-228600" algn="l" defTabSz="97790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/>
            <a:t>平时成绩：包含出勤情况、课堂提问、学生作业、平时表现确定（占</a:t>
          </a:r>
          <a:r>
            <a:rPr lang="en-US" altLang="zh-CN" sz="2200" b="1" kern="1200" dirty="0"/>
            <a:t>60%</a:t>
          </a:r>
          <a:r>
            <a:rPr lang="zh-CN" altLang="en-US" sz="2200" b="1" kern="1200" dirty="0"/>
            <a:t>）。</a:t>
          </a:r>
          <a:endParaRPr lang="zh-CN" sz="2200" b="1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200" b="1" kern="1200" dirty="0"/>
            <a:t>知识成绩：通过理论考试，确定是否掌握了理论知识（占</a:t>
          </a:r>
          <a:r>
            <a:rPr lang="en-US" altLang="zh-CN" sz="2200" b="1" kern="1200" dirty="0"/>
            <a:t>40%</a:t>
          </a:r>
          <a:r>
            <a:rPr lang="zh-CN" altLang="en-US" sz="2200" b="1" kern="1200" dirty="0"/>
            <a:t>）。</a:t>
          </a:r>
        </a:p>
      </dsp:txBody>
      <dsp:txXfrm>
        <a:off x="0" y="1500897"/>
        <a:ext cx="10182507" cy="15496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575333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微软雅黑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微软雅黑" charset="0"/>
              </a:defRPr>
            </a:lvl1pPr>
          </a:lstStyle>
          <a:p>
            <a:fld id="{7427AE1C-C8CA-495D-A1C3-F4E19E455D4D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微软雅黑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微软雅黑" charset="0"/>
              </a:defRPr>
            </a:lvl1pPr>
          </a:lstStyle>
          <a:p>
            <a:fld id="{572CFE39-E4F3-4BD9-A16E-9B3A0A705C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1670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微软雅黑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CFE39-E4F3-4BD9-A16E-9B3A0A705C4D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3534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96504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baseline="0" dirty="0"/>
          </a:p>
          <a:p>
            <a:endParaRPr lang="en-US" altLang="zh-CN" baseline="0" dirty="0"/>
          </a:p>
          <a:p>
            <a:endParaRPr lang="en-US" altLang="zh-CN" baseline="0" dirty="0"/>
          </a:p>
          <a:p>
            <a:endParaRPr lang="en-US" altLang="zh-CN" baseline="0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56913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421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8127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总的概括为图上的</a:t>
            </a:r>
            <a:r>
              <a:rPr lang="en-US" altLang="zh-CN" dirty="0"/>
              <a:t>4</a:t>
            </a:r>
            <a:r>
              <a:rPr lang="zh-CN" altLang="en-US" dirty="0"/>
              <a:t>大模块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113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828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下面开始我们本次课的内容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528F52-921D-4B5E-90E1-89DF6F6F587D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9913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2CFE39-E4F3-4BD9-A16E-9B3A0A705C4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08265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C658E6-7E56-4448-847D-C78FE3C89BA5}" type="datetime1">
              <a:rPr lang="zh-CN" altLang="en-US" smtClean="0"/>
              <a:pPr>
                <a:defRPr/>
              </a:pPr>
              <a:t>2022/2/23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3C0EA5-1674-44AA-98F4-0B8632608C0D}" type="slidenum">
              <a:rPr lang="zh-CN" altLang="en-US" smtClean="0"/>
              <a:pPr>
                <a:defRPr/>
              </a:pPr>
              <a:t>14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7870653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C658E6-7E56-4448-847D-C78FE3C89BA5}" type="datetime1">
              <a:rPr lang="zh-CN" altLang="en-US" smtClean="0"/>
              <a:pPr>
                <a:defRPr/>
              </a:pPr>
              <a:t>2022/2/23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3C0EA5-1674-44AA-98F4-0B8632608C0D}" type="slidenum">
              <a:rPr lang="zh-CN" altLang="en-US" smtClean="0"/>
              <a:pPr>
                <a:defRPr/>
              </a:pPr>
              <a:t>15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140610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C658E6-7E56-4448-847D-C78FE3C89BA5}" type="datetime1">
              <a:rPr lang="zh-CN" altLang="en-US" smtClean="0"/>
              <a:pPr>
                <a:defRPr/>
              </a:pPr>
              <a:t>2022/2/23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3C0EA5-1674-44AA-98F4-0B8632608C0D}" type="slidenum">
              <a:rPr lang="zh-CN" altLang="en-US" smtClean="0"/>
              <a:pPr>
                <a:defRPr/>
              </a:pPr>
              <a:t>16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3103400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D6C658E6-7E56-4448-847D-C78FE3C89BA5}" type="datetime1">
              <a:rPr lang="zh-CN" altLang="en-US" smtClean="0"/>
              <a:pPr>
                <a:defRPr/>
              </a:pPr>
              <a:t>2022/2/23</a:t>
            </a:fld>
            <a:endParaRPr lang="zh-CN" altLang="en-US" sz="120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63C0EA5-1674-44AA-98F4-0B8632608C0D}" type="slidenum">
              <a:rPr lang="zh-CN" altLang="en-US" smtClean="0"/>
              <a:pPr>
                <a:defRPr/>
              </a:pPr>
              <a:t>17</a:t>
            </a:fld>
            <a:endParaRPr lang="zh-CN" altLang="en-US" sz="1200"/>
          </a:p>
        </p:txBody>
      </p:sp>
    </p:spTree>
    <p:extLst>
      <p:ext uri="{BB962C8B-B14F-4D97-AF65-F5344CB8AC3E}">
        <p14:creationId xmlns:p14="http://schemas.microsoft.com/office/powerpoint/2010/main" val="28179308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768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1723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0256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323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49726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5867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51332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7171" name="Rectangle 3"/>
          <p:cNvSpPr>
            <a:spLocks noGrp="1" noRot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746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C882-A448-4391-8676-F5947BC890DB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DB73F-1E62-4448-A8B4-8FF89C1E19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C882-A448-4391-8676-F5947BC890DB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DB73F-1E62-4448-A8B4-8FF89C1E19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0611D0-9A6A-4745-A630-32461103131C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2022/2/23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F3D8C-2C4B-4342-80F1-9B8A0E6BA81A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GB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0C882-A448-4391-8676-F5947BC890DB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DB73F-1E62-4448-A8B4-8FF89C1E19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479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3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Logo</a:t>
            </a:r>
          </a:p>
        </p:txBody>
      </p:sp>
      <p:sp>
        <p:nvSpPr>
          <p:cNvPr id="3" name="灯片编号占位符 4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7AF47C9-C59B-4184-BECE-77495BE939EF}" type="slidenum">
              <a:rPr lang="ko-KR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2613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defRPr>
            </a:lvl1pPr>
          </a:lstStyle>
          <a:p>
            <a:fld id="{0880C882-A448-4391-8676-F5947BC890DB}" type="datetimeFigureOut">
              <a:rPr lang="zh-CN" altLang="en-US" smtClean="0"/>
              <a:t>2022/2/23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" charset="0"/>
                <a:ea typeface="微软雅黑" charset="0"/>
                <a:cs typeface="微软雅黑" charset="0"/>
              </a:defRPr>
            </a:lvl1pPr>
          </a:lstStyle>
          <a:p>
            <a:fld id="{019DB73F-1E62-4448-A8B4-8FF89C1E191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charset="0"/>
          <a:ea typeface="+mj-ea"/>
          <a:cs typeface="微软雅黑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400" kern="1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2000" kern="1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微软雅黑" charset="0"/>
          <a:ea typeface="微软雅黑" charset="0"/>
          <a:cs typeface="微软雅黑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>
            <a:off x="2776826" y="2793772"/>
            <a:ext cx="9035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5400" b="1" dirty="0">
                <a:solidFill>
                  <a:schemeClr val="accent1"/>
                </a:solidFill>
                <a:latin typeface="+mj-ea"/>
                <a:ea typeface="+mj-ea"/>
                <a:cs typeface="微软雅黑" charset="0"/>
              </a:rPr>
              <a:t>V</a:t>
            </a:r>
            <a:r>
              <a:rPr lang="en-US" altLang="zh-CN" sz="5400" b="1" dirty="0">
                <a:solidFill>
                  <a:schemeClr val="accent2"/>
                </a:solidFill>
                <a:latin typeface="+mj-ea"/>
                <a:ea typeface="+mj-ea"/>
                <a:cs typeface="微软雅黑" charset="0"/>
              </a:rPr>
              <a:t>u</a:t>
            </a:r>
            <a:r>
              <a:rPr lang="en-US" altLang="zh-CN" sz="5400" b="1" dirty="0">
                <a:solidFill>
                  <a:schemeClr val="accent3"/>
                </a:solidFill>
                <a:latin typeface="+mj-ea"/>
                <a:ea typeface="+mj-ea"/>
                <a:cs typeface="微软雅黑" charset="0"/>
              </a:rPr>
              <a:t>e</a:t>
            </a:r>
            <a:r>
              <a:rPr lang="zh-CN" altLang="en-US" sz="5400" b="1" dirty="0">
                <a:solidFill>
                  <a:schemeClr val="accent5">
                    <a:lumMod val="75000"/>
                  </a:schemeClr>
                </a:solidFill>
                <a:latin typeface="+mj-ea"/>
                <a:ea typeface="+mj-ea"/>
                <a:cs typeface="微软雅黑" charset="0"/>
              </a:rPr>
              <a:t>的入门基础知识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0" y="-2"/>
            <a:ext cx="4823439" cy="3501288"/>
            <a:chOff x="0" y="-2"/>
            <a:chExt cx="4823439" cy="3501288"/>
          </a:xfrm>
        </p:grpSpPr>
        <p:sp>
          <p:nvSpPr>
            <p:cNvPr id="4" name="等腰三角形 3"/>
            <p:cNvSpPr/>
            <p:nvPr/>
          </p:nvSpPr>
          <p:spPr>
            <a:xfrm rot="5400000">
              <a:off x="-95087" y="95085"/>
              <a:ext cx="1378763" cy="1188589"/>
            </a:xfrm>
            <a:prstGeom prst="triangl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5" name="等腰三角形 24"/>
            <p:cNvSpPr/>
            <p:nvPr/>
          </p:nvSpPr>
          <p:spPr>
            <a:xfrm rot="16200000">
              <a:off x="-95085" y="802592"/>
              <a:ext cx="1378763" cy="1188589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6" name="等腰三角形 25"/>
            <p:cNvSpPr/>
            <p:nvPr/>
          </p:nvSpPr>
          <p:spPr>
            <a:xfrm rot="5400000">
              <a:off x="-95087" y="1510099"/>
              <a:ext cx="1378763" cy="118858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7" name="等腰三角形 26"/>
            <p:cNvSpPr/>
            <p:nvPr/>
          </p:nvSpPr>
          <p:spPr>
            <a:xfrm rot="16200000">
              <a:off x="1117298" y="95087"/>
              <a:ext cx="1378763" cy="118858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8" name="等腰三角形 27"/>
            <p:cNvSpPr/>
            <p:nvPr/>
          </p:nvSpPr>
          <p:spPr>
            <a:xfrm rot="5400000">
              <a:off x="1110008" y="802592"/>
              <a:ext cx="1378763" cy="1188589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29" name="等腰三角形 28"/>
            <p:cNvSpPr/>
            <p:nvPr/>
          </p:nvSpPr>
          <p:spPr>
            <a:xfrm rot="16200000">
              <a:off x="1111740" y="1510101"/>
              <a:ext cx="1378763" cy="1188589"/>
            </a:xfrm>
            <a:prstGeom prst="triangl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0" name="等腰三角形 29"/>
            <p:cNvSpPr/>
            <p:nvPr/>
          </p:nvSpPr>
          <p:spPr>
            <a:xfrm rot="5400000">
              <a:off x="2334668" y="95085"/>
              <a:ext cx="1378763" cy="1188589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1" name="等腰三角形 30"/>
            <p:cNvSpPr/>
            <p:nvPr/>
          </p:nvSpPr>
          <p:spPr>
            <a:xfrm rot="5400000">
              <a:off x="1110245" y="2217610"/>
              <a:ext cx="1378763" cy="118858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2" name="等腰三角形 31"/>
            <p:cNvSpPr/>
            <p:nvPr/>
          </p:nvSpPr>
          <p:spPr>
            <a:xfrm rot="16200000">
              <a:off x="2334668" y="802591"/>
              <a:ext cx="1378763" cy="1188589"/>
            </a:xfrm>
            <a:prstGeom prst="triangle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3" name="等腰三角形 32"/>
            <p:cNvSpPr/>
            <p:nvPr/>
          </p:nvSpPr>
          <p:spPr>
            <a:xfrm rot="5400000">
              <a:off x="3539763" y="802591"/>
              <a:ext cx="1378763" cy="1188589"/>
            </a:xfrm>
            <a:prstGeom prst="triangl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0" y="6718300"/>
            <a:ext cx="12200197" cy="139699"/>
            <a:chOff x="234017" y="5975409"/>
            <a:chExt cx="13144500" cy="404812"/>
          </a:xfrm>
        </p:grpSpPr>
        <p:sp>
          <p:nvSpPr>
            <p:cNvPr id="35" name="矩形 34"/>
            <p:cNvSpPr/>
            <p:nvPr/>
          </p:nvSpPr>
          <p:spPr>
            <a:xfrm>
              <a:off x="234017" y="5975409"/>
              <a:ext cx="2190750" cy="40481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2424767" y="5975409"/>
              <a:ext cx="2190750" cy="40481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4615517" y="5975409"/>
              <a:ext cx="2190750" cy="4048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8" name="矩形 37"/>
            <p:cNvSpPr/>
            <p:nvPr/>
          </p:nvSpPr>
          <p:spPr>
            <a:xfrm>
              <a:off x="8997017" y="5975409"/>
              <a:ext cx="2190750" cy="4048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6806268" y="5975409"/>
              <a:ext cx="2190750" cy="4048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11187767" y="5975409"/>
              <a:ext cx="2190750" cy="4048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927337" y="554938"/>
            <a:ext cx="4874055" cy="712073"/>
            <a:chOff x="3710491" y="1059582"/>
            <a:chExt cx="4101695" cy="599235"/>
          </a:xfrm>
        </p:grpSpPr>
        <p:grpSp>
          <p:nvGrpSpPr>
            <p:cNvPr id="61" name="组合 60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00B0F0"/>
              </a:solidFill>
              <a:ln w="635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00B0F0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377" b="1" kern="0" dirty="0">
                  <a:solidFill>
                    <a:srgbClr val="00B0F0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TextBox 32"/>
            <p:cNvSpPr txBox="1"/>
            <p:nvPr/>
          </p:nvSpPr>
          <p:spPr>
            <a:xfrm>
              <a:off x="4974895" y="1214503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课程基本信息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393507" y="2391427"/>
            <a:ext cx="1422606" cy="14226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4" name="同心圆 4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2" name="TextBox 57"/>
          <p:cNvSpPr txBox="1"/>
          <p:nvPr/>
        </p:nvSpPr>
        <p:spPr>
          <a:xfrm>
            <a:off x="2331782" y="2873502"/>
            <a:ext cx="1494119" cy="51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27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3" name="Freeform 5"/>
          <p:cNvSpPr>
            <a:spLocks/>
          </p:cNvSpPr>
          <p:nvPr/>
        </p:nvSpPr>
        <p:spPr bwMode="auto">
          <a:xfrm>
            <a:off x="3956816" y="739030"/>
            <a:ext cx="774110" cy="4658017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39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870820" y="1686198"/>
            <a:ext cx="4874055" cy="712073"/>
            <a:chOff x="3710491" y="1059582"/>
            <a:chExt cx="4101695" cy="599235"/>
          </a:xfrm>
        </p:grpSpPr>
        <p:grpSp>
          <p:nvGrpSpPr>
            <p:cNvPr id="33" name="组合 32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TextBox 32"/>
            <p:cNvSpPr txBox="1"/>
            <p:nvPr/>
          </p:nvSpPr>
          <p:spPr>
            <a:xfrm>
              <a:off x="4990206" y="1181165"/>
              <a:ext cx="975586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课程定位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70820" y="3782984"/>
            <a:ext cx="4874055" cy="712073"/>
            <a:chOff x="3710491" y="1059582"/>
            <a:chExt cx="4101695" cy="599235"/>
          </a:xfrm>
        </p:grpSpPr>
        <p:grpSp>
          <p:nvGrpSpPr>
            <p:cNvPr id="68" name="组合 6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0" name="圆角矩形 6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Box 32"/>
            <p:cNvSpPr txBox="1"/>
            <p:nvPr/>
          </p:nvSpPr>
          <p:spPr>
            <a:xfrm>
              <a:off x="4920234" y="1219391"/>
              <a:ext cx="1446382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课程教学目标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27337" y="4769082"/>
            <a:ext cx="4874055" cy="712074"/>
            <a:chOff x="3710491" y="1059582"/>
            <a:chExt cx="4101695" cy="599235"/>
          </a:xfrm>
        </p:grpSpPr>
        <p:grpSp>
          <p:nvGrpSpPr>
            <p:cNvPr id="38" name="组合 3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Box 35"/>
              <p:cNvSpPr txBox="1"/>
              <p:nvPr/>
            </p:nvSpPr>
            <p:spPr>
              <a:xfrm>
                <a:off x="4246444" y="1253634"/>
                <a:ext cx="421764" cy="34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32"/>
            <p:cNvSpPr txBox="1"/>
            <p:nvPr/>
          </p:nvSpPr>
          <p:spPr>
            <a:xfrm>
              <a:off x="4934039" y="1214503"/>
              <a:ext cx="1498938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课程考核要求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870820" y="2773466"/>
            <a:ext cx="4874055" cy="712073"/>
            <a:chOff x="3710491" y="1059582"/>
            <a:chExt cx="4101695" cy="599235"/>
          </a:xfrm>
        </p:grpSpPr>
        <p:grpSp>
          <p:nvGrpSpPr>
            <p:cNvPr id="49" name="组合 48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Box 32"/>
            <p:cNvSpPr txBox="1"/>
            <p:nvPr/>
          </p:nvSpPr>
          <p:spPr>
            <a:xfrm>
              <a:off x="4990206" y="1181165"/>
              <a:ext cx="1017601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853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9694" y="519713"/>
            <a:ext cx="4021663" cy="4581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377" b="1" dirty="0">
                <a:solidFill>
                  <a:srgbClr val="00B0F0"/>
                </a:solidFill>
              </a:rPr>
              <a:t>课程基本信息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421550"/>
              </p:ext>
            </p:extLst>
          </p:nvPr>
        </p:nvGraphicFramePr>
        <p:xfrm>
          <a:off x="1154224" y="1507198"/>
          <a:ext cx="10066584" cy="294860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583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55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27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6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8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83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83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583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8603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课程编码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R01981264</a:t>
                      </a:r>
                      <a:endParaRPr lang="zh-CN" altLang="en-US" sz="15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课程名称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工业</a:t>
                      </a:r>
                      <a:r>
                        <a:rPr lang="en-US" altLang="zh-CN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APP</a:t>
                      </a:r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综合开发</a:t>
                      </a:r>
                      <a:endParaRPr lang="en-US" altLang="zh-CN" sz="15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授课学期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第四学期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12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课程类别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专业必修课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总学时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</a:t>
                      </a:r>
                      <a:endParaRPr lang="zh-CN" altLang="en-US" sz="15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学分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500" b="1" dirty="0">
                        <a:solidFill>
                          <a:schemeClr val="bg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考核性质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考试课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81287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适用专业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/>
                      <a:r>
                        <a:rPr lang="zh-CN" altLang="en-US" sz="1500" b="1" dirty="0">
                          <a:solidFill>
                            <a:schemeClr val="bg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软件专业、移动互联专业</a:t>
                      </a:r>
                    </a:p>
                  </a:txBody>
                  <a:tcPr marL="108659" marR="108659" marT="54329" marB="54329" anchor="ctr">
                    <a:solidFill>
                      <a:srgbClr val="00B0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10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834849" y="1703903"/>
            <a:ext cx="4874055" cy="712073"/>
            <a:chOff x="3710491" y="1059582"/>
            <a:chExt cx="4101695" cy="599235"/>
          </a:xfrm>
        </p:grpSpPr>
        <p:grpSp>
          <p:nvGrpSpPr>
            <p:cNvPr id="61" name="组合 60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00B0F0"/>
              </a:solidFill>
              <a:ln w="635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00B0F0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377" b="1" kern="0" dirty="0">
                  <a:solidFill>
                    <a:srgbClr val="00B0F0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TextBox 32"/>
            <p:cNvSpPr txBox="1"/>
            <p:nvPr/>
          </p:nvSpPr>
          <p:spPr>
            <a:xfrm>
              <a:off x="4974895" y="1214503"/>
              <a:ext cx="975586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课程定位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393507" y="2391427"/>
            <a:ext cx="1422606" cy="14226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4" name="同心圆 4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2" name="TextBox 57"/>
          <p:cNvSpPr txBox="1"/>
          <p:nvPr/>
        </p:nvSpPr>
        <p:spPr>
          <a:xfrm>
            <a:off x="2331782" y="2873502"/>
            <a:ext cx="1494119" cy="51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27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3" name="Freeform 5"/>
          <p:cNvSpPr>
            <a:spLocks/>
          </p:cNvSpPr>
          <p:nvPr/>
        </p:nvSpPr>
        <p:spPr bwMode="auto">
          <a:xfrm>
            <a:off x="3956816" y="739030"/>
            <a:ext cx="774110" cy="4658017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39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861841" y="512163"/>
            <a:ext cx="4874055" cy="712073"/>
            <a:chOff x="3710491" y="1059582"/>
            <a:chExt cx="4101695" cy="599235"/>
          </a:xfrm>
        </p:grpSpPr>
        <p:grpSp>
          <p:nvGrpSpPr>
            <p:cNvPr id="33" name="组合 32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TextBox 32"/>
            <p:cNvSpPr txBox="1"/>
            <p:nvPr/>
          </p:nvSpPr>
          <p:spPr>
            <a:xfrm>
              <a:off x="4990206" y="1181165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课程基本信息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927335" y="3768167"/>
            <a:ext cx="4874055" cy="712073"/>
            <a:chOff x="3710491" y="1059582"/>
            <a:chExt cx="4101695" cy="599235"/>
          </a:xfrm>
        </p:grpSpPr>
        <p:grpSp>
          <p:nvGrpSpPr>
            <p:cNvPr id="68" name="组合 6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0" name="圆角矩形 6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Box 32"/>
            <p:cNvSpPr txBox="1"/>
            <p:nvPr/>
          </p:nvSpPr>
          <p:spPr>
            <a:xfrm>
              <a:off x="4920234" y="1219391"/>
              <a:ext cx="1446382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课程教学目标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27337" y="4769082"/>
            <a:ext cx="4874055" cy="712074"/>
            <a:chOff x="3710491" y="1059582"/>
            <a:chExt cx="4101695" cy="599235"/>
          </a:xfrm>
        </p:grpSpPr>
        <p:grpSp>
          <p:nvGrpSpPr>
            <p:cNvPr id="38" name="组合 3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Box 35"/>
              <p:cNvSpPr txBox="1"/>
              <p:nvPr/>
            </p:nvSpPr>
            <p:spPr>
              <a:xfrm>
                <a:off x="4246444" y="1253634"/>
                <a:ext cx="421764" cy="34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32"/>
            <p:cNvSpPr txBox="1"/>
            <p:nvPr/>
          </p:nvSpPr>
          <p:spPr>
            <a:xfrm>
              <a:off x="4934039" y="1214503"/>
              <a:ext cx="1498938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课程考核要求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879631" y="2746694"/>
            <a:ext cx="4874055" cy="712073"/>
            <a:chOff x="3710491" y="1059582"/>
            <a:chExt cx="4101695" cy="599235"/>
          </a:xfrm>
        </p:grpSpPr>
        <p:grpSp>
          <p:nvGrpSpPr>
            <p:cNvPr id="49" name="组合 48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Box 32"/>
            <p:cNvSpPr txBox="1"/>
            <p:nvPr/>
          </p:nvSpPr>
          <p:spPr>
            <a:xfrm>
              <a:off x="4990206" y="1181165"/>
              <a:ext cx="1017601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68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9694" y="519712"/>
            <a:ext cx="4021663" cy="53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52" b="1" dirty="0">
                <a:solidFill>
                  <a:srgbClr val="00B0F0"/>
                </a:solidFill>
              </a:rPr>
              <a:t>课程定位</a:t>
            </a:r>
          </a:p>
        </p:txBody>
      </p:sp>
      <p:graphicFrame>
        <p:nvGraphicFramePr>
          <p:cNvPr id="3" name="图示 2"/>
          <p:cNvGraphicFramePr/>
          <p:nvPr>
            <p:extLst>
              <p:ext uri="{D42A27DB-BD31-4B8C-83A1-F6EECF244321}">
                <p14:modId xmlns:p14="http://schemas.microsoft.com/office/powerpoint/2010/main" val="932223876"/>
              </p:ext>
            </p:extLst>
          </p:nvPr>
        </p:nvGraphicFramePr>
        <p:xfrm>
          <a:off x="619693" y="1632087"/>
          <a:ext cx="10967170" cy="35938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313754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9694" y="519712"/>
            <a:ext cx="4021663" cy="53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52" b="1" dirty="0">
                <a:solidFill>
                  <a:srgbClr val="00B0F0"/>
                </a:solidFill>
              </a:rPr>
              <a:t>课程定位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25F8891-5E52-4500-BC2D-E760490AE5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0036" y="1162915"/>
            <a:ext cx="7740535" cy="249578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9981D5C-F9CC-4BCB-8839-16F5BF2AAF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902" y="3947847"/>
            <a:ext cx="5542575" cy="2720372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89C79999-B66C-472E-B219-ABA8E69F61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2404" y="3913154"/>
            <a:ext cx="4478694" cy="2755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95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834849" y="2768789"/>
            <a:ext cx="4874055" cy="712073"/>
            <a:chOff x="3710491" y="1059582"/>
            <a:chExt cx="4101695" cy="599235"/>
          </a:xfrm>
        </p:grpSpPr>
        <p:grpSp>
          <p:nvGrpSpPr>
            <p:cNvPr id="61" name="组合 60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00B0F0"/>
              </a:solidFill>
              <a:ln w="635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00B0F0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377" b="1" kern="0" dirty="0">
                  <a:solidFill>
                    <a:srgbClr val="00B0F0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TextBox 32"/>
            <p:cNvSpPr txBox="1"/>
            <p:nvPr/>
          </p:nvSpPr>
          <p:spPr>
            <a:xfrm>
              <a:off x="4974895" y="1214503"/>
              <a:ext cx="975586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课程模块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393507" y="2391427"/>
            <a:ext cx="1422606" cy="14226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4" name="同心圆 4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2" name="TextBox 57"/>
          <p:cNvSpPr txBox="1"/>
          <p:nvPr/>
        </p:nvSpPr>
        <p:spPr>
          <a:xfrm>
            <a:off x="2331782" y="2873502"/>
            <a:ext cx="1494119" cy="51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27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3" name="Freeform 5"/>
          <p:cNvSpPr>
            <a:spLocks/>
          </p:cNvSpPr>
          <p:nvPr/>
        </p:nvSpPr>
        <p:spPr bwMode="auto">
          <a:xfrm>
            <a:off x="3956816" y="739030"/>
            <a:ext cx="774110" cy="4658017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39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861841" y="512163"/>
            <a:ext cx="4874055" cy="712073"/>
            <a:chOff x="3710491" y="1059582"/>
            <a:chExt cx="4101695" cy="599235"/>
          </a:xfrm>
        </p:grpSpPr>
        <p:grpSp>
          <p:nvGrpSpPr>
            <p:cNvPr id="33" name="组合 32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TextBox 32"/>
            <p:cNvSpPr txBox="1"/>
            <p:nvPr/>
          </p:nvSpPr>
          <p:spPr>
            <a:xfrm>
              <a:off x="4990206" y="1181165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课程基本信息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71630" y="3786210"/>
            <a:ext cx="4874055" cy="712073"/>
            <a:chOff x="3710491" y="1059582"/>
            <a:chExt cx="4101695" cy="599235"/>
          </a:xfrm>
        </p:grpSpPr>
        <p:grpSp>
          <p:nvGrpSpPr>
            <p:cNvPr id="68" name="组合 6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0" name="圆角矩形 6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Box 32"/>
            <p:cNvSpPr txBox="1"/>
            <p:nvPr/>
          </p:nvSpPr>
          <p:spPr>
            <a:xfrm>
              <a:off x="4920234" y="1219391"/>
              <a:ext cx="1446382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课程教学目标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27337" y="4769082"/>
            <a:ext cx="4874055" cy="712074"/>
            <a:chOff x="3710491" y="1059582"/>
            <a:chExt cx="4101695" cy="599235"/>
          </a:xfrm>
        </p:grpSpPr>
        <p:grpSp>
          <p:nvGrpSpPr>
            <p:cNvPr id="38" name="组合 3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Box 35"/>
              <p:cNvSpPr txBox="1"/>
              <p:nvPr/>
            </p:nvSpPr>
            <p:spPr>
              <a:xfrm>
                <a:off x="4246444" y="1253634"/>
                <a:ext cx="421764" cy="34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32"/>
            <p:cNvSpPr txBox="1"/>
            <p:nvPr/>
          </p:nvSpPr>
          <p:spPr>
            <a:xfrm>
              <a:off x="4934039" y="1214503"/>
              <a:ext cx="1498938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课程考核要求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796254" y="1657658"/>
            <a:ext cx="4874055" cy="712073"/>
            <a:chOff x="3710491" y="1059582"/>
            <a:chExt cx="4101695" cy="599235"/>
          </a:xfrm>
        </p:grpSpPr>
        <p:grpSp>
          <p:nvGrpSpPr>
            <p:cNvPr id="49" name="组合 48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Box 32"/>
            <p:cNvSpPr txBox="1"/>
            <p:nvPr/>
          </p:nvSpPr>
          <p:spPr>
            <a:xfrm>
              <a:off x="4990206" y="1181165"/>
              <a:ext cx="1017601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课程定位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27605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93EFE0E2-82F0-4235-8D84-B38745E335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246637"/>
              </p:ext>
            </p:extLst>
          </p:nvPr>
        </p:nvGraphicFramePr>
        <p:xfrm>
          <a:off x="2032001" y="719667"/>
          <a:ext cx="8128001" cy="54186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4311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893391" y="3744367"/>
            <a:ext cx="4874055" cy="712073"/>
            <a:chOff x="3710491" y="1059582"/>
            <a:chExt cx="4101695" cy="599235"/>
          </a:xfrm>
        </p:grpSpPr>
        <p:grpSp>
          <p:nvGrpSpPr>
            <p:cNvPr id="61" name="组合 60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00B0F0"/>
              </a:solidFill>
              <a:ln w="635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00B0F0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377" b="1" kern="0" dirty="0">
                  <a:solidFill>
                    <a:srgbClr val="00B0F0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TextBox 32"/>
            <p:cNvSpPr txBox="1"/>
            <p:nvPr/>
          </p:nvSpPr>
          <p:spPr>
            <a:xfrm>
              <a:off x="4974895" y="1214503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课程教学目标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393507" y="2391427"/>
            <a:ext cx="1422606" cy="14226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4" name="同心圆 4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2" name="TextBox 57"/>
          <p:cNvSpPr txBox="1"/>
          <p:nvPr/>
        </p:nvSpPr>
        <p:spPr>
          <a:xfrm>
            <a:off x="2331782" y="2873502"/>
            <a:ext cx="1494119" cy="51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27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3" name="Freeform 5"/>
          <p:cNvSpPr>
            <a:spLocks/>
          </p:cNvSpPr>
          <p:nvPr/>
        </p:nvSpPr>
        <p:spPr bwMode="auto">
          <a:xfrm>
            <a:off x="3956816" y="739030"/>
            <a:ext cx="774110" cy="4658017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39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861841" y="512163"/>
            <a:ext cx="4874055" cy="712073"/>
            <a:chOff x="3710491" y="1059582"/>
            <a:chExt cx="4101695" cy="599235"/>
          </a:xfrm>
        </p:grpSpPr>
        <p:grpSp>
          <p:nvGrpSpPr>
            <p:cNvPr id="33" name="组合 32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TextBox 32"/>
            <p:cNvSpPr txBox="1"/>
            <p:nvPr/>
          </p:nvSpPr>
          <p:spPr>
            <a:xfrm>
              <a:off x="4990206" y="1181165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课程基本信息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34849" y="2743453"/>
            <a:ext cx="4874055" cy="712073"/>
            <a:chOff x="3710491" y="1059582"/>
            <a:chExt cx="4101695" cy="599235"/>
          </a:xfrm>
        </p:grpSpPr>
        <p:grpSp>
          <p:nvGrpSpPr>
            <p:cNvPr id="68" name="组合 6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0" name="圆角矩形 6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Box 32"/>
            <p:cNvSpPr txBox="1"/>
            <p:nvPr/>
          </p:nvSpPr>
          <p:spPr>
            <a:xfrm>
              <a:off x="4920234" y="1219391"/>
              <a:ext cx="1036291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课程模块</a:t>
              </a:r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4927337" y="4769082"/>
            <a:ext cx="4874055" cy="712074"/>
            <a:chOff x="3710491" y="1059582"/>
            <a:chExt cx="4101695" cy="599235"/>
          </a:xfrm>
        </p:grpSpPr>
        <p:grpSp>
          <p:nvGrpSpPr>
            <p:cNvPr id="38" name="组合 3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40" name="圆角矩形 3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" name="TextBox 35"/>
              <p:cNvSpPr txBox="1"/>
              <p:nvPr/>
            </p:nvSpPr>
            <p:spPr>
              <a:xfrm>
                <a:off x="4246444" y="1253634"/>
                <a:ext cx="421764" cy="345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9" name="TextBox 32"/>
            <p:cNvSpPr txBox="1"/>
            <p:nvPr/>
          </p:nvSpPr>
          <p:spPr>
            <a:xfrm>
              <a:off x="4934039" y="1214503"/>
              <a:ext cx="1498938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课程考核要求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796254" y="1679355"/>
            <a:ext cx="4874055" cy="712073"/>
            <a:chOff x="3710491" y="1059582"/>
            <a:chExt cx="4101695" cy="599235"/>
          </a:xfrm>
        </p:grpSpPr>
        <p:grpSp>
          <p:nvGrpSpPr>
            <p:cNvPr id="49" name="组合 48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51" name="圆角矩形 50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Box 32"/>
            <p:cNvSpPr txBox="1"/>
            <p:nvPr/>
          </p:nvSpPr>
          <p:spPr>
            <a:xfrm>
              <a:off x="4990206" y="1181165"/>
              <a:ext cx="1017601" cy="3238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课程定位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52295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19694" y="519712"/>
            <a:ext cx="4021663" cy="53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52" b="1" dirty="0">
                <a:solidFill>
                  <a:srgbClr val="00B0F0"/>
                </a:solidFill>
              </a:rPr>
              <a:t>课程教学目标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50F31622-4E21-4DE0-9B06-7FCDBBBB9CD2}"/>
              </a:ext>
            </a:extLst>
          </p:cNvPr>
          <p:cNvGrpSpPr/>
          <p:nvPr/>
        </p:nvGrpSpPr>
        <p:grpSpPr>
          <a:xfrm>
            <a:off x="696651" y="1873255"/>
            <a:ext cx="10798698" cy="2851414"/>
            <a:chOff x="0" y="178379"/>
            <a:chExt cx="7742782" cy="2471040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AC3C350D-9434-4970-8475-65E1E62B26D6}"/>
                </a:ext>
              </a:extLst>
            </p:cNvPr>
            <p:cNvSpPr/>
            <p:nvPr/>
          </p:nvSpPr>
          <p:spPr>
            <a:xfrm>
              <a:off x="0" y="178379"/>
              <a:ext cx="7742782" cy="2471040"/>
            </a:xfrm>
            <a:prstGeom prst="roundRect">
              <a:avLst/>
            </a:prstGeom>
            <a:solidFill>
              <a:srgbClr val="00B0F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" name="矩形: 圆角 4">
              <a:extLst>
                <a:ext uri="{FF2B5EF4-FFF2-40B4-BE49-F238E27FC236}">
                  <a16:creationId xmlns:a16="http://schemas.microsoft.com/office/drawing/2014/main" id="{3BA597CE-68D8-4235-9BFC-2616F362F23B}"/>
                </a:ext>
              </a:extLst>
            </p:cNvPr>
            <p:cNvSpPr txBox="1"/>
            <p:nvPr/>
          </p:nvSpPr>
          <p:spPr>
            <a:xfrm>
              <a:off x="120626" y="299005"/>
              <a:ext cx="7501529" cy="222978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59789" tIns="159789" rIns="159789" bIns="159789" numCol="1" spcCol="1270" anchor="ctr" anchorCtr="0">
              <a:noAutofit/>
            </a:bodyPr>
            <a:lstStyle/>
            <a:p>
              <a:pPr indent="581055" latinLnBrk="1"/>
              <a:r>
                <a:rPr lang="zh-CN" altLang="zh-CN" sz="3050" dirty="0"/>
                <a:t>通过本课程的学习，能够了</a:t>
              </a:r>
              <a:r>
                <a:rPr lang="zh-CN" altLang="en-US" sz="3050" dirty="0"/>
                <a:t>运用</a:t>
              </a:r>
              <a:r>
                <a:rPr lang="en-US" altLang="zh-CN" sz="3050" dirty="0"/>
                <a:t>Vue</a:t>
              </a:r>
              <a:r>
                <a:rPr lang="zh-CN" altLang="en-US" sz="3050" dirty="0"/>
                <a:t>的基础知识和</a:t>
              </a:r>
              <a:r>
                <a:rPr lang="en-US" altLang="zh-CN" sz="3050" dirty="0" err="1"/>
                <a:t>SpringBoot</a:t>
              </a:r>
              <a:r>
                <a:rPr lang="zh-CN" altLang="en-US" sz="3050" dirty="0"/>
                <a:t>的基础功能完成简单单词本的制作。其中</a:t>
              </a:r>
              <a:r>
                <a:rPr lang="en-US" altLang="zh-CN" sz="3050" dirty="0"/>
                <a:t>Vue</a:t>
              </a:r>
              <a:r>
                <a:rPr lang="zh-CN" altLang="en-US" sz="3050" dirty="0"/>
                <a:t>实现单词本的界面与接口调用，</a:t>
              </a:r>
              <a:r>
                <a:rPr lang="en-US" altLang="zh-CN" sz="3050" dirty="0" err="1"/>
                <a:t>SpringBoot</a:t>
              </a:r>
              <a:r>
                <a:rPr lang="zh-CN" altLang="en-US" sz="3050" dirty="0"/>
                <a:t>简单完成接口的制作</a:t>
              </a:r>
              <a:endParaRPr lang="zh-CN" altLang="zh-CN" sz="305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85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/>
          <p:cNvGrpSpPr/>
          <p:nvPr/>
        </p:nvGrpSpPr>
        <p:grpSpPr>
          <a:xfrm>
            <a:off x="4866486" y="4988052"/>
            <a:ext cx="4874055" cy="712073"/>
            <a:chOff x="3710491" y="1059582"/>
            <a:chExt cx="4101695" cy="599235"/>
          </a:xfrm>
        </p:grpSpPr>
        <p:grpSp>
          <p:nvGrpSpPr>
            <p:cNvPr id="61" name="组合 60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63" name="圆角矩形 62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4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00B0F0"/>
              </a:solidFill>
              <a:ln w="6350" cap="flat" cmpd="sng" algn="ctr">
                <a:solidFill>
                  <a:schemeClr val="tx2">
                    <a:lumMod val="60000"/>
                    <a:lumOff val="40000"/>
                  </a:schemeClr>
                </a:solidFill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5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00B0F0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2377" b="1" kern="0" dirty="0">
                  <a:solidFill>
                    <a:srgbClr val="00B0F0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2" name="TextBox 32"/>
            <p:cNvSpPr txBox="1"/>
            <p:nvPr/>
          </p:nvSpPr>
          <p:spPr>
            <a:xfrm>
              <a:off x="4974895" y="1214503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课程考核要求</a:t>
              </a: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2393507" y="2391427"/>
            <a:ext cx="1422606" cy="1422606"/>
            <a:chOff x="304800" y="673100"/>
            <a:chExt cx="4000500" cy="4000500"/>
          </a:xfrm>
          <a:effectLst>
            <a:outerShdw blurRad="444500" dist="254000" dir="8100000" algn="tr" rotWithShape="0">
              <a:prstClr val="black">
                <a:alpha val="50000"/>
              </a:prstClr>
            </a:outerShdw>
          </a:effectLst>
        </p:grpSpPr>
        <p:sp>
          <p:nvSpPr>
            <p:cNvPr id="44" name="同心圆 43"/>
            <p:cNvSpPr/>
            <p:nvPr/>
          </p:nvSpPr>
          <p:spPr>
            <a:xfrm>
              <a:off x="304800" y="673100"/>
              <a:ext cx="4000500" cy="4000500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ysClr val="window" lastClr="FFFFFF"/>
                </a:gs>
                <a:gs pos="55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65000"/>
                  </a:sysClr>
                </a:gs>
              </a:gsLst>
              <a:lin ang="81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Text" lastClr="000000"/>
                </a:solidFill>
                <a:latin typeface="Calibri"/>
                <a:ea typeface="宋体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92113" y="760413"/>
              <a:ext cx="3825874" cy="3825874"/>
            </a:xfrm>
            <a:prstGeom prst="ellipse">
              <a:avLst/>
            </a:prstGeom>
            <a:gradFill>
              <a:gsLst>
                <a:gs pos="0">
                  <a:sysClr val="window" lastClr="FFFFFF"/>
                </a:gs>
                <a:gs pos="51000">
                  <a:sysClr val="window" lastClr="FFFFFF">
                    <a:lumMod val="95000"/>
                  </a:sysClr>
                </a:gs>
                <a:gs pos="100000">
                  <a:sysClr val="window" lastClr="FFFFFF">
                    <a:lumMod val="75000"/>
                  </a:sysClr>
                </a:gs>
              </a:gsLst>
              <a:lin ang="18900000" scaled="0"/>
            </a:gra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algn="ctr" defTabSz="1086574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139" kern="0">
                <a:solidFill>
                  <a:sysClr val="window" lastClr="FFFFFF"/>
                </a:solidFill>
                <a:latin typeface="Calibri"/>
                <a:ea typeface="宋体"/>
              </a:endParaRPr>
            </a:p>
          </p:txBody>
        </p:sp>
      </p:grpSp>
      <p:sp>
        <p:nvSpPr>
          <p:cNvPr id="42" name="TextBox 57"/>
          <p:cNvSpPr txBox="1"/>
          <p:nvPr/>
        </p:nvSpPr>
        <p:spPr>
          <a:xfrm>
            <a:off x="2331782" y="2873502"/>
            <a:ext cx="1494119" cy="51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327" b="1" kern="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</a:p>
        </p:txBody>
      </p:sp>
      <p:sp>
        <p:nvSpPr>
          <p:cNvPr id="43" name="Freeform 5"/>
          <p:cNvSpPr>
            <a:spLocks/>
          </p:cNvSpPr>
          <p:nvPr/>
        </p:nvSpPr>
        <p:spPr bwMode="auto">
          <a:xfrm>
            <a:off x="3956816" y="860992"/>
            <a:ext cx="774110" cy="4536055"/>
          </a:xfrm>
          <a:custGeom>
            <a:avLst/>
            <a:gdLst/>
            <a:ahLst/>
            <a:cxnLst/>
            <a:rect l="l" t="t" r="r" b="b"/>
            <a:pathLst>
              <a:path w="931331" h="3822203">
                <a:moveTo>
                  <a:pt x="931331" y="0"/>
                </a:moveTo>
                <a:lnTo>
                  <a:pt x="931331" y="43438"/>
                </a:lnTo>
                <a:lnTo>
                  <a:pt x="929692" y="43241"/>
                </a:lnTo>
                <a:cubicBezTo>
                  <a:pt x="720560" y="43241"/>
                  <a:pt x="548753" y="233651"/>
                  <a:pt x="531759" y="477070"/>
                </a:cubicBezTo>
                <a:cubicBezTo>
                  <a:pt x="531001" y="481589"/>
                  <a:pt x="530505" y="486178"/>
                  <a:pt x="530592" y="490864"/>
                </a:cubicBezTo>
                <a:lnTo>
                  <a:pt x="527965" y="521911"/>
                </a:lnTo>
                <a:cubicBezTo>
                  <a:pt x="527965" y="524355"/>
                  <a:pt x="527981" y="526795"/>
                  <a:pt x="528584" y="529223"/>
                </a:cubicBezTo>
                <a:cubicBezTo>
                  <a:pt x="525896" y="549213"/>
                  <a:pt x="525319" y="570030"/>
                  <a:pt x="525319" y="591585"/>
                </a:cubicBezTo>
                <a:lnTo>
                  <a:pt x="525319" y="1420695"/>
                </a:lnTo>
                <a:cubicBezTo>
                  <a:pt x="525319" y="1644311"/>
                  <a:pt x="418363" y="1909396"/>
                  <a:pt x="152419" y="1909396"/>
                </a:cubicBezTo>
                <a:lnTo>
                  <a:pt x="152419" y="1917007"/>
                </a:lnTo>
                <a:cubicBezTo>
                  <a:pt x="411268" y="1917007"/>
                  <a:pt x="525319" y="2180779"/>
                  <a:pt x="525319" y="2401508"/>
                </a:cubicBezTo>
                <a:lnTo>
                  <a:pt x="525319" y="3229831"/>
                </a:lnTo>
                <a:lnTo>
                  <a:pt x="528395" y="3285086"/>
                </a:lnTo>
                <a:lnTo>
                  <a:pt x="527965" y="3290166"/>
                </a:lnTo>
                <a:cubicBezTo>
                  <a:pt x="527965" y="3298449"/>
                  <a:pt x="528142" y="3306682"/>
                  <a:pt x="530049" y="3314794"/>
                </a:cubicBezTo>
                <a:cubicBezTo>
                  <a:pt x="529872" y="3323297"/>
                  <a:pt x="530775" y="3331587"/>
                  <a:pt x="532157" y="3339708"/>
                </a:cubicBezTo>
                <a:cubicBezTo>
                  <a:pt x="550979" y="3580884"/>
                  <a:pt x="721914" y="3768836"/>
                  <a:pt x="929692" y="3768836"/>
                </a:cubicBezTo>
                <a:cubicBezTo>
                  <a:pt x="930239" y="3768836"/>
                  <a:pt x="930786" y="3768835"/>
                  <a:pt x="931331" y="3768639"/>
                </a:cubicBezTo>
                <a:lnTo>
                  <a:pt x="931331" y="3822203"/>
                </a:lnTo>
                <a:cubicBezTo>
                  <a:pt x="739757" y="3822203"/>
                  <a:pt x="598112" y="3773911"/>
                  <a:pt x="507975" y="3678638"/>
                </a:cubicBezTo>
                <a:cubicBezTo>
                  <a:pt x="417575" y="3582577"/>
                  <a:pt x="372901" y="3410141"/>
                  <a:pt x="372901" y="3162642"/>
                </a:cubicBezTo>
                <a:lnTo>
                  <a:pt x="372901" y="2435365"/>
                </a:lnTo>
                <a:cubicBezTo>
                  <a:pt x="372901" y="2299674"/>
                  <a:pt x="350301" y="2189965"/>
                  <a:pt x="304838" y="2105453"/>
                </a:cubicBezTo>
                <a:cubicBezTo>
                  <a:pt x="260163" y="2021204"/>
                  <a:pt x="158200" y="1972649"/>
                  <a:pt x="0" y="1961888"/>
                </a:cubicBezTo>
                <a:lnTo>
                  <a:pt x="0" y="1860316"/>
                </a:lnTo>
                <a:cubicBezTo>
                  <a:pt x="146638" y="1837744"/>
                  <a:pt x="245710" y="1792339"/>
                  <a:pt x="296166" y="1724624"/>
                </a:cubicBezTo>
                <a:cubicBezTo>
                  <a:pt x="347410" y="1657434"/>
                  <a:pt x="372901" y="1544052"/>
                  <a:pt x="372901" y="1386838"/>
                </a:cubicBezTo>
                <a:lnTo>
                  <a:pt x="372901" y="659562"/>
                </a:lnTo>
                <a:cubicBezTo>
                  <a:pt x="372901" y="411275"/>
                  <a:pt x="417575" y="239626"/>
                  <a:pt x="507975" y="143566"/>
                </a:cubicBezTo>
                <a:cubicBezTo>
                  <a:pt x="598112" y="47505"/>
                  <a:pt x="739757" y="0"/>
                  <a:pt x="931331" y="0"/>
                </a:cubicBezTo>
                <a:close/>
              </a:path>
            </a:pathLst>
          </a:custGeom>
          <a:gradFill flip="none" rotWithShape="1">
            <a:gsLst>
              <a:gs pos="0">
                <a:sysClr val="window" lastClr="FFFFFF"/>
              </a:gs>
              <a:gs pos="100000">
                <a:sysClr val="window" lastClr="FFFFFF">
                  <a:lumMod val="85000"/>
                </a:sysClr>
              </a:gs>
            </a:gsLst>
            <a:lin ang="0" scaled="1"/>
            <a:tileRect/>
          </a:gradFill>
          <a:ln w="12700" cap="flat" cmpd="sng" algn="ctr">
            <a:gradFill>
              <a:gsLst>
                <a:gs pos="0">
                  <a:sysClr val="window" lastClr="FFFFFF"/>
                </a:gs>
                <a:gs pos="100000">
                  <a:sysClr val="window" lastClr="FFFFFF">
                    <a:lumMod val="85000"/>
                  </a:sysClr>
                </a:gs>
              </a:gsLst>
              <a:lin ang="5400000" scaled="0"/>
            </a:gra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+mn-cs"/>
              </a:defRPr>
            </a:lvl9pPr>
          </a:lstStyle>
          <a:p>
            <a:pPr algn="ctr" defTabSz="1086574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139" kern="0" dirty="0">
              <a:solidFill>
                <a:sysClr val="window" lastClr="FFFFFF"/>
              </a:solidFill>
              <a:latin typeface="Calibri"/>
              <a:ea typeface="宋体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4927337" y="764268"/>
            <a:ext cx="4874055" cy="712073"/>
            <a:chOff x="3710491" y="1059582"/>
            <a:chExt cx="4101695" cy="599235"/>
          </a:xfrm>
        </p:grpSpPr>
        <p:grpSp>
          <p:nvGrpSpPr>
            <p:cNvPr id="33" name="组合 32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35" name="圆角矩形 34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6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66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4" name="TextBox 32"/>
            <p:cNvSpPr txBox="1"/>
            <p:nvPr/>
          </p:nvSpPr>
          <p:spPr>
            <a:xfrm>
              <a:off x="4990206" y="1181165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课程基本信息</a:t>
              </a: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859409" y="1768625"/>
            <a:ext cx="4874055" cy="712073"/>
            <a:chOff x="3710491" y="1059582"/>
            <a:chExt cx="4101695" cy="599235"/>
          </a:xfrm>
        </p:grpSpPr>
        <p:grpSp>
          <p:nvGrpSpPr>
            <p:cNvPr id="68" name="组合 67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0" name="圆角矩形 69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1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2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69" name="TextBox 32"/>
            <p:cNvSpPr txBox="1"/>
            <p:nvPr/>
          </p:nvSpPr>
          <p:spPr>
            <a:xfrm>
              <a:off x="4920234" y="1219391"/>
              <a:ext cx="1036291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课程定位</a:t>
              </a:r>
            </a:p>
          </p:txBody>
        </p:sp>
      </p:grpSp>
      <p:grpSp>
        <p:nvGrpSpPr>
          <p:cNvPr id="73" name="组合 72"/>
          <p:cNvGrpSpPr/>
          <p:nvPr/>
        </p:nvGrpSpPr>
        <p:grpSpPr>
          <a:xfrm>
            <a:off x="4872555" y="3880976"/>
            <a:ext cx="4874055" cy="712073"/>
            <a:chOff x="3710491" y="1059582"/>
            <a:chExt cx="4101695" cy="599235"/>
          </a:xfrm>
        </p:grpSpPr>
        <p:grpSp>
          <p:nvGrpSpPr>
            <p:cNvPr id="74" name="组合 73"/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76" name="圆角矩形 75"/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7" name="圆角矩形 113"/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TextBox 35"/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75" name="TextBox 32"/>
            <p:cNvSpPr txBox="1"/>
            <p:nvPr/>
          </p:nvSpPr>
          <p:spPr>
            <a:xfrm>
              <a:off x="5026858" y="1214503"/>
              <a:ext cx="1385678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课程教学目标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57F2325A-948D-4DBB-9BB6-53EDE114F13C}"/>
              </a:ext>
            </a:extLst>
          </p:cNvPr>
          <p:cNvGrpSpPr/>
          <p:nvPr/>
        </p:nvGrpSpPr>
        <p:grpSpPr>
          <a:xfrm>
            <a:off x="4850521" y="2772983"/>
            <a:ext cx="4874055" cy="712073"/>
            <a:chOff x="3710491" y="1059582"/>
            <a:chExt cx="4101695" cy="599235"/>
          </a:xfrm>
        </p:grpSpPr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68C9C507-C4A0-4830-A7FF-0CF05CF906A1}"/>
                </a:ext>
              </a:extLst>
            </p:cNvPr>
            <p:cNvGrpSpPr/>
            <p:nvPr/>
          </p:nvGrpSpPr>
          <p:grpSpPr>
            <a:xfrm>
              <a:off x="3710491" y="1059582"/>
              <a:ext cx="4101695" cy="599235"/>
              <a:chOff x="4139952" y="1170041"/>
              <a:chExt cx="3672408" cy="536519"/>
            </a:xfrm>
          </p:grpSpPr>
          <p:sp>
            <p:nvSpPr>
              <p:cNvPr id="51" name="圆角矩形 69">
                <a:extLst>
                  <a:ext uri="{FF2B5EF4-FFF2-40B4-BE49-F238E27FC236}">
                    <a16:creationId xmlns:a16="http://schemas.microsoft.com/office/drawing/2014/main" id="{14F3C03C-65A9-46CA-B381-AA67DB09CE9A}"/>
                  </a:ext>
                </a:extLst>
              </p:cNvPr>
              <p:cNvSpPr/>
              <p:nvPr/>
            </p:nvSpPr>
            <p:spPr>
              <a:xfrm>
                <a:off x="4139952" y="1170041"/>
                <a:ext cx="3672408" cy="536519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45000">
                    <a:sysClr val="window" lastClr="FFFFFF"/>
                  </a:gs>
                  <a:gs pos="100000">
                    <a:sysClr val="window" lastClr="FFFFFF">
                      <a:lumMod val="85000"/>
                    </a:sysClr>
                  </a:gs>
                </a:gsLst>
                <a:lin ang="18000000" scaled="0"/>
                <a:tileRect/>
              </a:gradFill>
              <a:ln w="6350" cap="flat" cmpd="sng" algn="ctr">
                <a:gradFill>
                  <a:gsLst>
                    <a:gs pos="0">
                      <a:sysClr val="window" lastClr="FFFFFF">
                        <a:lumMod val="85000"/>
                      </a:sysClr>
                    </a:gs>
                    <a:gs pos="100000">
                      <a:sysClr val="window" lastClr="FFFFFF"/>
                    </a:gs>
                  </a:gsLst>
                  <a:lin ang="17400000" scaled="0"/>
                </a:gradFill>
                <a:prstDash val="solid"/>
              </a:ln>
              <a:effectLst>
                <a:outerShdw blurRad="152400" dist="38100" dir="8100000" algn="tr" rotWithShape="0">
                  <a:prstClr val="black">
                    <a:alpha val="34000"/>
                  </a:prstClr>
                </a:out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" name="圆角矩形 113">
                <a:extLst>
                  <a:ext uri="{FF2B5EF4-FFF2-40B4-BE49-F238E27FC236}">
                    <a16:creationId xmlns:a16="http://schemas.microsoft.com/office/drawing/2014/main" id="{4863AA00-8EA1-4304-93AB-A733183B03B1}"/>
                  </a:ext>
                </a:extLst>
              </p:cNvPr>
              <p:cNvSpPr/>
              <p:nvPr/>
            </p:nvSpPr>
            <p:spPr>
              <a:xfrm>
                <a:off x="4716016" y="1250029"/>
                <a:ext cx="3005287" cy="389240"/>
              </a:xfrm>
              <a:custGeom>
                <a:avLst/>
                <a:gdLst/>
                <a:ahLst/>
                <a:cxnLst/>
                <a:rect l="l" t="t" r="r" b="b"/>
                <a:pathLst>
                  <a:path w="3005287" h="389240">
                    <a:moveTo>
                      <a:pt x="0" y="0"/>
                    </a:moveTo>
                    <a:lnTo>
                      <a:pt x="535610" y="0"/>
                    </a:lnTo>
                    <a:lnTo>
                      <a:pt x="792088" y="0"/>
                    </a:lnTo>
                    <a:lnTo>
                      <a:pt x="2810667" y="0"/>
                    </a:lnTo>
                    <a:cubicBezTo>
                      <a:pt x="2918153" y="0"/>
                      <a:pt x="3005287" y="87134"/>
                      <a:pt x="3005287" y="194620"/>
                    </a:cubicBezTo>
                    <a:lnTo>
                      <a:pt x="3005286" y="194620"/>
                    </a:lnTo>
                    <a:cubicBezTo>
                      <a:pt x="3005286" y="302106"/>
                      <a:pt x="2918152" y="389240"/>
                      <a:pt x="2810666" y="389240"/>
                    </a:cubicBezTo>
                    <a:lnTo>
                      <a:pt x="535610" y="389239"/>
                    </a:lnTo>
                    <a:lnTo>
                      <a:pt x="0" y="389239"/>
                    </a:lnTo>
                    <a:close/>
                  </a:path>
                </a:pathLst>
              </a:custGeom>
              <a:solidFill>
                <a:srgbClr val="1C9494"/>
              </a:solidFill>
              <a:ln w="6350" cap="flat" cmpd="sng" algn="ctr">
                <a:noFill/>
                <a:prstDash val="solid"/>
              </a:ln>
              <a:effectLst>
                <a:innerShdw blurRad="63500" dist="50800" dir="16200000">
                  <a:prstClr val="black">
                    <a:alpha val="32000"/>
                  </a:prstClr>
                </a:innerShdw>
              </a:effectLst>
            </p:spPr>
            <p:txBody>
              <a:bodyPr rtlCol="0" anchor="ctr"/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algn="ctr"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248" kern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3" name="TextBox 35">
                <a:extLst>
                  <a:ext uri="{FF2B5EF4-FFF2-40B4-BE49-F238E27FC236}">
                    <a16:creationId xmlns:a16="http://schemas.microsoft.com/office/drawing/2014/main" id="{55421EF9-3D50-46DB-B5B4-67EBF2D29A0D}"/>
                  </a:ext>
                </a:extLst>
              </p:cNvPr>
              <p:cNvSpPr txBox="1"/>
              <p:nvPr/>
            </p:nvSpPr>
            <p:spPr>
              <a:xfrm>
                <a:off x="4246444" y="1253634"/>
                <a:ext cx="421764" cy="3451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zh-CN"/>
                </a:defPPr>
                <a:lvl1pPr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1pPr>
                <a:lvl2pPr marL="4572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2pPr>
                <a:lvl3pPr marL="9144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3pPr>
                <a:lvl4pPr marL="13716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4pPr>
                <a:lvl5pPr marL="1828800" algn="l" rtl="0" fontAlgn="base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itchFamily="34" charset="0"/>
                    <a:ea typeface="宋体" pitchFamily="2" charset="-122"/>
                    <a:cs typeface="+mn-cs"/>
                  </a:defRPr>
                </a:lvl9pPr>
              </a:lstStyle>
              <a:p>
                <a:pPr defTabSz="1086574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377" b="1" kern="0" dirty="0">
                    <a:solidFill>
                      <a:srgbClr val="1C9494"/>
                    </a:solidFill>
                    <a:effectLst>
                      <a:innerShdw blurRad="63500" dist="50800" dir="10800000">
                        <a:prstClr val="black">
                          <a:alpha val="50000"/>
                        </a:prstClr>
                      </a:inn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2377" b="1" kern="0" dirty="0">
                  <a:solidFill>
                    <a:srgbClr val="1C9494"/>
                  </a:solidFill>
                  <a:effectLst>
                    <a:innerShdw blurRad="63500" dist="50800" dir="10800000">
                      <a:prstClr val="black">
                        <a:alpha val="50000"/>
                      </a:prstClr>
                    </a:inn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50" name="TextBox 32">
              <a:extLst>
                <a:ext uri="{FF2B5EF4-FFF2-40B4-BE49-F238E27FC236}">
                  <a16:creationId xmlns:a16="http://schemas.microsoft.com/office/drawing/2014/main" id="{4899BFEA-4415-4BA3-B4E5-E2723EB217CB}"/>
                </a:ext>
              </a:extLst>
            </p:cNvPr>
            <p:cNvSpPr txBox="1"/>
            <p:nvPr/>
          </p:nvSpPr>
          <p:spPr>
            <a:xfrm>
              <a:off x="4920234" y="1219391"/>
              <a:ext cx="1446382" cy="323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itchFamily="34" charset="0"/>
                  <a:ea typeface="宋体" pitchFamily="2" charset="-122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901" b="1" kern="0" dirty="0">
                  <a:solidFill>
                    <a:sysClr val="window" lastClr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课程教学模块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24615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1111022181"/>
              </p:ext>
            </p:extLst>
          </p:nvPr>
        </p:nvGraphicFramePr>
        <p:xfrm>
          <a:off x="1004746" y="1690227"/>
          <a:ext cx="10182508" cy="30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19694" y="519712"/>
            <a:ext cx="4021663" cy="5312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52" b="1" dirty="0">
                <a:solidFill>
                  <a:srgbClr val="00B0F0"/>
                </a:solidFill>
              </a:rPr>
              <a:t>课程考核要求</a:t>
            </a:r>
          </a:p>
        </p:txBody>
      </p:sp>
    </p:spTree>
    <p:extLst>
      <p:ext uri="{BB962C8B-B14F-4D97-AF65-F5344CB8AC3E}">
        <p14:creationId xmlns:p14="http://schemas.microsoft.com/office/powerpoint/2010/main" val="4151174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" name="组合 52"/>
          <p:cNvGrpSpPr/>
          <p:nvPr/>
        </p:nvGrpSpPr>
        <p:grpSpPr>
          <a:xfrm>
            <a:off x="5800099" y="1655764"/>
            <a:ext cx="5224189" cy="707886"/>
            <a:chOff x="4849178" y="1625999"/>
            <a:chExt cx="5224189" cy="707886"/>
          </a:xfrm>
        </p:grpSpPr>
        <p:sp>
          <p:nvSpPr>
            <p:cNvPr id="54" name="等腰三角形 53"/>
            <p:cNvSpPr/>
            <p:nvPr/>
          </p:nvSpPr>
          <p:spPr>
            <a:xfrm rot="5400000">
              <a:off x="5666858" y="1872452"/>
              <a:ext cx="249378" cy="214980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849178" y="1625999"/>
              <a:ext cx="826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01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56" name="文本框 55"/>
            <p:cNvSpPr txBox="1"/>
            <p:nvPr/>
          </p:nvSpPr>
          <p:spPr>
            <a:xfrm flipH="1">
              <a:off x="5947344" y="1787608"/>
              <a:ext cx="4126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什么是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Vue.js</a:t>
              </a:r>
              <a:endPara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  <p:sp>
        <p:nvSpPr>
          <p:cNvPr id="69" name="文本框 68"/>
          <p:cNvSpPr txBox="1"/>
          <p:nvPr/>
        </p:nvSpPr>
        <p:spPr>
          <a:xfrm>
            <a:off x="146202" y="3164260"/>
            <a:ext cx="48393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Vue</a:t>
            </a:r>
            <a:r>
              <a: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的入门基础知识</a:t>
            </a:r>
          </a:p>
        </p:txBody>
      </p:sp>
      <p:grpSp>
        <p:nvGrpSpPr>
          <p:cNvPr id="82" name="组合 81"/>
          <p:cNvGrpSpPr/>
          <p:nvPr/>
        </p:nvGrpSpPr>
        <p:grpSpPr>
          <a:xfrm>
            <a:off x="5800099" y="2605926"/>
            <a:ext cx="5224189" cy="707886"/>
            <a:chOff x="4849178" y="1625999"/>
            <a:chExt cx="5224189" cy="707886"/>
          </a:xfrm>
        </p:grpSpPr>
        <p:sp>
          <p:nvSpPr>
            <p:cNvPr id="83" name="等腰三角形 82"/>
            <p:cNvSpPr/>
            <p:nvPr/>
          </p:nvSpPr>
          <p:spPr>
            <a:xfrm rot="5400000">
              <a:off x="5666858" y="1872452"/>
              <a:ext cx="249378" cy="214980"/>
            </a:xfrm>
            <a:prstGeom prst="triangl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4849178" y="1625999"/>
              <a:ext cx="826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02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 flipH="1">
              <a:off x="5947344" y="1787608"/>
              <a:ext cx="4126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Vue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的优势与特点</a:t>
              </a:r>
            </a:p>
          </p:txBody>
        </p:sp>
      </p:grpSp>
      <p:grpSp>
        <p:nvGrpSpPr>
          <p:cNvPr id="86" name="组合 85"/>
          <p:cNvGrpSpPr/>
          <p:nvPr/>
        </p:nvGrpSpPr>
        <p:grpSpPr>
          <a:xfrm>
            <a:off x="5800099" y="3556088"/>
            <a:ext cx="5224189" cy="707886"/>
            <a:chOff x="4849178" y="1625999"/>
            <a:chExt cx="5224189" cy="707886"/>
          </a:xfrm>
        </p:grpSpPr>
        <p:sp>
          <p:nvSpPr>
            <p:cNvPr id="87" name="等腰三角形 86"/>
            <p:cNvSpPr/>
            <p:nvPr/>
          </p:nvSpPr>
          <p:spPr>
            <a:xfrm rot="5400000">
              <a:off x="5666858" y="1872452"/>
              <a:ext cx="249378" cy="214980"/>
            </a:xfrm>
            <a:prstGeom prst="triangl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8" name="文本框 87"/>
            <p:cNvSpPr txBox="1"/>
            <p:nvPr/>
          </p:nvSpPr>
          <p:spPr>
            <a:xfrm>
              <a:off x="4849178" y="1625999"/>
              <a:ext cx="826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03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 flipH="1">
              <a:off x="5947344" y="1787608"/>
              <a:ext cx="4126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Node.js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与</a:t>
              </a:r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Vue-cli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脚手架的安装</a:t>
              </a:r>
              <a:endPara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</p:grpSp>
      <p:grpSp>
        <p:nvGrpSpPr>
          <p:cNvPr id="90" name="组合 89"/>
          <p:cNvGrpSpPr/>
          <p:nvPr/>
        </p:nvGrpSpPr>
        <p:grpSpPr>
          <a:xfrm>
            <a:off x="5800099" y="4506249"/>
            <a:ext cx="5224189" cy="707886"/>
            <a:chOff x="4849178" y="1625999"/>
            <a:chExt cx="5224189" cy="707886"/>
          </a:xfrm>
        </p:grpSpPr>
        <p:sp>
          <p:nvSpPr>
            <p:cNvPr id="91" name="等腰三角形 90"/>
            <p:cNvSpPr/>
            <p:nvPr/>
          </p:nvSpPr>
          <p:spPr>
            <a:xfrm rot="5400000">
              <a:off x="5666858" y="1872452"/>
              <a:ext cx="249378" cy="214980"/>
            </a:xfrm>
            <a:prstGeom prst="triangl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2" name="文本框 91"/>
            <p:cNvSpPr txBox="1"/>
            <p:nvPr/>
          </p:nvSpPr>
          <p:spPr>
            <a:xfrm>
              <a:off x="4849178" y="1625999"/>
              <a:ext cx="82602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4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04</a:t>
              </a:r>
              <a:endParaRPr lang="zh-CN" altLang="en-US" sz="4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charset="0"/>
                <a:ea typeface="微软雅黑" charset="0"/>
                <a:cs typeface="微软雅黑" charset="0"/>
              </a:endParaRPr>
            </a:p>
          </p:txBody>
        </p:sp>
        <p:sp>
          <p:nvSpPr>
            <p:cNvPr id="93" name="文本框 92"/>
            <p:cNvSpPr txBox="1"/>
            <p:nvPr/>
          </p:nvSpPr>
          <p:spPr>
            <a:xfrm flipH="1">
              <a:off x="5947344" y="1787608"/>
              <a:ext cx="412602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Webpack</a:t>
              </a:r>
              <a:r>
                <a:rPr lang="zh-CN" alt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charset="0"/>
                  <a:ea typeface="微软雅黑" charset="0"/>
                  <a:cs typeface="微软雅黑" charset="0"/>
                </a:rPr>
                <a:t>的安装与使用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 flipH="1">
            <a:off x="920335" y="552237"/>
            <a:ext cx="360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前端技术知识回顾</a:t>
            </a:r>
          </a:p>
        </p:txBody>
      </p:sp>
      <p:sp>
        <p:nvSpPr>
          <p:cNvPr id="11" name="等腰三角形 10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50862" y="2814152"/>
            <a:ext cx="10879137" cy="92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</a:t>
            </a:r>
            <a:r>
              <a:rPr lang="zh-CN" altLang="en-US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sz="3200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是什么，有什么作用？</a:t>
            </a:r>
            <a:endParaRPr lang="en-US" altLang="zh-CN" sz="3200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797638"/>
      </p:ext>
    </p:extLst>
  </p:cSld>
  <p:clrMapOvr>
    <a:masterClrMapping/>
  </p:clrMapOvr>
  <p:transition spd="slow" advClick="0">
    <p:pull dir="l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 flipH="1">
            <a:off x="920335" y="552237"/>
            <a:ext cx="360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前端技术知识回顾</a:t>
            </a:r>
          </a:p>
        </p:txBody>
      </p:sp>
      <p:sp>
        <p:nvSpPr>
          <p:cNvPr id="11" name="等腰三角形 10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609778" y="1927005"/>
            <a:ext cx="10972443" cy="24615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主要用来编写网页的结构，例如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&lt;a&gt;&lt;/a&gt;</a:t>
            </a:r>
            <a:r>
              <a: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表示超链接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CSS</a:t>
            </a:r>
            <a:r>
              <a: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样式包括颜色、大小、字体等，布局合理的页面效果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。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的功能</a:t>
            </a:r>
            <a:r>
              <a:rPr lang="zh-CN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主要包括实现页面逻辑、行为、动作等，用来动态操作元素的属性，主要是为页面提供交互效果，实现更好的用户体验。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2981243"/>
      </p:ext>
    </p:extLst>
  </p:cSld>
  <p:clrMapOvr>
    <a:masterClrMapping/>
  </p:clrMapOvr>
  <p:transition spd="slow" advClick="0">
    <p:pull dir="l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 flipH="1">
            <a:off x="920335" y="552237"/>
            <a:ext cx="360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Vue.js</a:t>
            </a:r>
            <a:endParaRPr lang="zh-CN" altLang="en-US" sz="2400" dirty="0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77121" y="2307475"/>
            <a:ext cx="11037757" cy="2243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50000"/>
              </a:lnSpc>
              <a:spcBef>
                <a:spcPct val="50000"/>
              </a:spcBef>
            </a:pP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Vue.js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简称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zh-CN" sz="2400" b="0" dirty="0">
                <a:solidFill>
                  <a:schemeClr val="tx1"/>
                </a:solidFill>
                <a:latin typeface="+mj-ea"/>
                <a:ea typeface="+mj-ea"/>
              </a:rPr>
              <a:t>（读音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/</a:t>
            </a:r>
            <a:r>
              <a:rPr lang="en-US" altLang="zh-CN" sz="2400" b="0" dirty="0" err="1">
                <a:solidFill>
                  <a:schemeClr val="tx1"/>
                </a:solidFill>
                <a:latin typeface="+mj-ea"/>
                <a:ea typeface="+mj-ea"/>
              </a:rPr>
              <a:t>Vju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ː/</a:t>
            </a:r>
            <a:r>
              <a:rPr lang="zh-CN" altLang="zh-CN" sz="2400" b="0" dirty="0">
                <a:solidFill>
                  <a:schemeClr val="tx1"/>
                </a:solidFill>
                <a:latin typeface="+mj-ea"/>
                <a:ea typeface="+mj-ea"/>
              </a:rPr>
              <a:t>，类似于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View</a:t>
            </a:r>
            <a:r>
              <a:rPr lang="zh-CN" altLang="zh-CN" sz="2400" b="0" dirty="0">
                <a:solidFill>
                  <a:schemeClr val="tx1"/>
                </a:solidFill>
                <a:latin typeface="+mj-ea"/>
                <a:ea typeface="+mj-ea"/>
              </a:rPr>
              <a:t>）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，是目前流行的</a:t>
            </a:r>
            <a:r>
              <a:rPr lang="zh-CN" altLang="en-US" sz="2400" b="0" dirty="0">
                <a:solidFill>
                  <a:srgbClr val="FF0000"/>
                </a:solidFill>
                <a:latin typeface="+mj-ea"/>
                <a:ea typeface="+mj-ea"/>
              </a:rPr>
              <a:t>前端框架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之一，是一套用于构建</a:t>
            </a:r>
            <a:r>
              <a:rPr lang="zh-CN" altLang="en-US" sz="2400" b="0" dirty="0">
                <a:solidFill>
                  <a:srgbClr val="FF0000"/>
                </a:solidFill>
                <a:latin typeface="+mj-ea"/>
                <a:ea typeface="+mj-ea"/>
              </a:rPr>
              <a:t>用户界面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的</a:t>
            </a:r>
            <a:r>
              <a:rPr lang="zh-CN" altLang="en-US" sz="2400" b="0" dirty="0">
                <a:solidFill>
                  <a:srgbClr val="00B0F0"/>
                </a:solidFill>
                <a:latin typeface="+mj-ea"/>
                <a:ea typeface="+mj-ea"/>
              </a:rPr>
              <a:t>渐进式框架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，与大型框架比，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被设计为可以</a:t>
            </a:r>
            <a:r>
              <a:rPr lang="zh-CN" altLang="en-US" sz="2400" b="0" dirty="0">
                <a:solidFill>
                  <a:srgbClr val="00B0F0"/>
                </a:solidFill>
                <a:latin typeface="+mj-ea"/>
                <a:ea typeface="+mj-ea"/>
              </a:rPr>
              <a:t>自底向上逐层应用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，不进行强制性要求，因此</a:t>
            </a:r>
            <a:r>
              <a:rPr lang="en-US" altLang="zh-CN" sz="2400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更灵活，</a:t>
            </a:r>
            <a:r>
              <a:rPr lang="zh-CN" altLang="en-US" sz="2400" b="0" dirty="0">
                <a:solidFill>
                  <a:srgbClr val="FF0000"/>
                </a:solidFill>
                <a:latin typeface="+mj-ea"/>
                <a:ea typeface="+mj-ea"/>
              </a:rPr>
              <a:t>可以用于全新项目开发，也可以引入现有的项目中</a:t>
            </a:r>
            <a:r>
              <a:rPr lang="zh-CN" altLang="en-US" sz="2400" b="0" dirty="0">
                <a:solidFill>
                  <a:schemeClr val="tx1"/>
                </a:solidFill>
                <a:latin typeface="+mj-ea"/>
                <a:ea typeface="+mj-ea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710456"/>
      </p:ext>
    </p:extLst>
  </p:cSld>
  <p:clrMapOvr>
    <a:masterClrMapping/>
  </p:clrMapOvr>
  <p:transition spd="slow" advClick="0">
    <p:pull dir="l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/>
          <p:cNvSpPr txBox="1"/>
          <p:nvPr/>
        </p:nvSpPr>
        <p:spPr>
          <a:xfrm flipH="1">
            <a:off x="920335" y="552237"/>
            <a:ext cx="3605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什么是</a:t>
            </a:r>
            <a:r>
              <a:rPr lang="en-US" altLang="zh-CN" sz="2400" dirty="0">
                <a:solidFill>
                  <a:srgbClr val="2DA2BF"/>
                </a:solidFill>
                <a:latin typeface="微软雅黑" charset="0"/>
                <a:ea typeface="微软雅黑" charset="0"/>
                <a:cs typeface="微软雅黑" charset="0"/>
              </a:rPr>
              <a:t>Vue.js</a:t>
            </a:r>
            <a:endParaRPr lang="zh-CN" altLang="en-US" sz="2400" dirty="0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等腰三角形 10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2DA2BF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50862" y="1229554"/>
            <a:ext cx="11037757" cy="961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5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rgbClr val="00B0F0"/>
                </a:solidFill>
                <a:latin typeface="+mj-ea"/>
                <a:ea typeface="+mj-ea"/>
              </a:rPr>
              <a:t>渐进式框架的理解：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渐进可以理解为一步一步的意思，使用</a:t>
            </a:r>
            <a:r>
              <a:rPr lang="en-US" altLang="zh-CN" b="0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Vue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的时候，并不需要把整个框架的所有东西都用上，可以根据实际情况选择你需要的部分。如下图：</a:t>
            </a:r>
            <a:endParaRPr lang="zh-CN" altLang="en-US" b="0" dirty="0">
              <a:solidFill>
                <a:srgbClr val="00B0F0"/>
              </a:solidFill>
              <a:latin typeface="+mj-ea"/>
              <a:ea typeface="+mj-ea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96E39DC-0374-47F3-9B58-59D8BF0ED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269" y="2307776"/>
            <a:ext cx="9877462" cy="212807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C34103F-8D1F-4634-BC00-4FCD1E4E3151}"/>
              </a:ext>
            </a:extLst>
          </p:cNvPr>
          <p:cNvSpPr txBox="1"/>
          <p:nvPr/>
        </p:nvSpPr>
        <p:spPr>
          <a:xfrm>
            <a:off x="550862" y="4548753"/>
            <a:ext cx="11037757" cy="9612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sz="2000" dirty="0">
                <a:latin typeface="+mj-ea"/>
                <a:ea typeface="+mj-ea"/>
              </a:rPr>
              <a:t>声明式渲染和组建系统是</a:t>
            </a:r>
            <a:r>
              <a:rPr lang="en-US" altLang="zh-CN" sz="2000" dirty="0">
                <a:latin typeface="+mj-ea"/>
                <a:ea typeface="+mj-ea"/>
              </a:rPr>
              <a:t>Vue</a:t>
            </a:r>
            <a:r>
              <a:rPr lang="zh-CN" altLang="en-US" sz="2000" dirty="0">
                <a:latin typeface="+mj-ea"/>
                <a:ea typeface="+mj-ea"/>
              </a:rPr>
              <a:t>的核心库所包含内容，而客户端路由、状态管理、构建工具都有专门解决方案，且解决方案相互独立。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DD3F2EB1-E87D-436F-B149-43CB0D30B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1" y="5622948"/>
            <a:ext cx="11037757" cy="496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5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自底向上逐层应用</a:t>
            </a:r>
            <a:r>
              <a:rPr lang="zh-CN" altLang="en-US" b="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b="0" i="0" dirty="0">
                <a:solidFill>
                  <a:srgbClr val="404040"/>
                </a:solidFill>
                <a:effectLst/>
                <a:latin typeface="+mj-ea"/>
                <a:ea typeface="+mj-ea"/>
              </a:rPr>
              <a:t>由基层开始做起，把基础的东西写好，再逐层往上添加效果和功能。</a:t>
            </a:r>
            <a:endParaRPr lang="zh-CN" altLang="en-US" b="0" dirty="0">
              <a:solidFill>
                <a:srgbClr val="00B0F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91002565"/>
      </p:ext>
    </p:extLst>
  </p:cSld>
  <p:clrMapOvr>
    <a:masterClrMapping/>
  </p:clrMapOvr>
  <p:transition spd="slow" advClick="0">
    <p:pull dir="l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Vue</a:t>
            </a:r>
            <a:r>
              <a:rPr lang="zh-CN" altLang="en-US" sz="2400" dirty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的优势与特点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920335" y="1294152"/>
            <a:ext cx="9766300" cy="46698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轻量级的框架：只关注视图层，是一个构建数据的视图集合。通过简单的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API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提供高效的数据绑定和灵活的组件系统。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双向数据绑定：使用</a:t>
            </a:r>
            <a:r>
              <a:rPr lang="en-US" altLang="zh-CN" b="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MVVM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框架，数据双向绑定，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当数据发生变化，视图也会发生变化，当视图发生变化，数据也会同步变化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指令：包含内置指令和自定义指令，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以“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v-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”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开头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，作用于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元素。能为绑定元素提供特殊行为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插件：用于对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Vue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框架功能进行扩展，通过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MyPlugin.install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完成编写，简单配置就可全局使用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组件化：是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Vue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最强大的功能之一。可以扩展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Html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元素，封装可重用的代码，减少代码编写。</a:t>
            </a: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6311A959-A7CF-447C-AE5E-2C279D9510D1}"/>
              </a:ext>
            </a:extLst>
          </p:cNvPr>
          <p:cNvSpPr/>
          <p:nvPr/>
        </p:nvSpPr>
        <p:spPr>
          <a:xfrm rot="5400000">
            <a:off x="521304" y="598333"/>
            <a:ext cx="428590" cy="36947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686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Vue</a:t>
            </a:r>
            <a:r>
              <a:rPr lang="zh-CN" altLang="en-US" sz="2400" dirty="0">
                <a:solidFill>
                  <a:schemeClr val="accent2"/>
                </a:solidFill>
                <a:latin typeface="微软雅黑" charset="0"/>
                <a:ea typeface="微软雅黑" charset="0"/>
                <a:cs typeface="微软雅黑" charset="0"/>
              </a:rPr>
              <a:t>的优势与特点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618170" y="1294152"/>
            <a:ext cx="10955657" cy="1422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50000"/>
              </a:lnSpc>
            </a:pPr>
            <a:r>
              <a:rPr lang="en-US" altLang="zh-CN" b="0" dirty="0">
                <a:solidFill>
                  <a:srgbClr val="00B0F0"/>
                </a:solidFill>
                <a:latin typeface="+mj-ea"/>
                <a:ea typeface="+mj-ea"/>
              </a:rPr>
              <a:t>MVVM</a:t>
            </a:r>
            <a:r>
              <a:rPr lang="zh-CN" altLang="en-US" b="0" dirty="0">
                <a:solidFill>
                  <a:srgbClr val="00B0F0"/>
                </a:solidFill>
                <a:latin typeface="+mj-ea"/>
                <a:ea typeface="+mj-ea"/>
              </a:rPr>
              <a:t>：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是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Model-View-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ViewModel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的缩写，它是一种基于前端开发的架构模式，其核心是提供对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View 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和 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Model 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的双向数据绑定，这使得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Model 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的状态改变可以自动传递给 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View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，即所谓的数据双向绑定，其工作原理图如下</a:t>
            </a:r>
            <a:endParaRPr lang="zh-CN" altLang="en-US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6311A959-A7CF-447C-AE5E-2C279D9510D1}"/>
              </a:ext>
            </a:extLst>
          </p:cNvPr>
          <p:cNvSpPr/>
          <p:nvPr/>
        </p:nvSpPr>
        <p:spPr>
          <a:xfrm rot="5400000">
            <a:off x="521304" y="598333"/>
            <a:ext cx="428590" cy="369472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D07D457-ECD8-4C24-901B-157EE915AC68}"/>
              </a:ext>
            </a:extLst>
          </p:cNvPr>
          <p:cNvGrpSpPr/>
          <p:nvPr/>
        </p:nvGrpSpPr>
        <p:grpSpPr>
          <a:xfrm>
            <a:off x="618171" y="2807030"/>
            <a:ext cx="10955304" cy="3808375"/>
            <a:chOff x="735600" y="2965650"/>
            <a:chExt cx="10955304" cy="3808375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35B8C16-3E04-4124-BB7E-44AF8810B940}"/>
                </a:ext>
              </a:extLst>
            </p:cNvPr>
            <p:cNvGrpSpPr/>
            <p:nvPr/>
          </p:nvGrpSpPr>
          <p:grpSpPr>
            <a:xfrm>
              <a:off x="735600" y="2965650"/>
              <a:ext cx="8234323" cy="3808375"/>
              <a:chOff x="1619644" y="2974980"/>
              <a:chExt cx="8234323" cy="3808375"/>
            </a:xfrm>
          </p:grpSpPr>
          <p:graphicFrame>
            <p:nvGraphicFramePr>
              <p:cNvPr id="11" name="对象 10">
                <a:extLst>
                  <a:ext uri="{FF2B5EF4-FFF2-40B4-BE49-F238E27FC236}">
                    <a16:creationId xmlns:a16="http://schemas.microsoft.com/office/drawing/2014/main" id="{F2E26C5B-B4D0-4B0F-A74B-928BA50F18B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01873553"/>
                  </p:ext>
                </p:extLst>
              </p:nvPr>
            </p:nvGraphicFramePr>
            <p:xfrm>
              <a:off x="1619644" y="2974980"/>
              <a:ext cx="8234323" cy="380837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198" name="Visio" r:id="rId4" imgW="4982310" imgH="2299748" progId="Visio.Drawing.11">
                      <p:embed/>
                    </p:oleObj>
                  </mc:Choice>
                  <mc:Fallback>
                    <p:oleObj name="Visio" r:id="rId4" imgW="4982310" imgH="2299748" progId="Visio.Drawing.11">
                      <p:embed/>
                      <p:pic>
                        <p:nvPicPr>
                          <p:cNvPr id="5" name="对象 4">
                            <a:extLst>
                              <a:ext uri="{FF2B5EF4-FFF2-40B4-BE49-F238E27FC236}">
                                <a16:creationId xmlns:a16="http://schemas.microsoft.com/office/drawing/2014/main" id="{850E62BB-C01D-42CD-92A6-12EB8547DC8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19644" y="2974980"/>
                            <a:ext cx="8234323" cy="3808375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13AB254-0792-4973-8977-DDB65254E285}"/>
                  </a:ext>
                </a:extLst>
              </p:cNvPr>
              <p:cNvSpPr/>
              <p:nvPr/>
            </p:nvSpPr>
            <p:spPr>
              <a:xfrm>
                <a:off x="3030086" y="4180114"/>
                <a:ext cx="5943599" cy="615821"/>
              </a:xfrm>
              <a:prstGeom prst="rect">
                <a:avLst/>
              </a:prstGeom>
              <a:noFill/>
              <a:ln w="5715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99D024AB-9836-4215-BED2-CDF03EB8329C}"/>
                  </a:ext>
                </a:extLst>
              </p:cNvPr>
              <p:cNvSpPr/>
              <p:nvPr/>
            </p:nvSpPr>
            <p:spPr>
              <a:xfrm>
                <a:off x="3030086" y="4948335"/>
                <a:ext cx="5943600" cy="615821"/>
              </a:xfrm>
              <a:prstGeom prst="rect">
                <a:avLst/>
              </a:prstGeom>
              <a:noFill/>
              <a:ln w="57150">
                <a:solidFill>
                  <a:srgbClr val="00B05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FA66CF0-D2C6-4451-9872-75AF78234D2E}"/>
                </a:ext>
              </a:extLst>
            </p:cNvPr>
            <p:cNvSpPr txBox="1"/>
            <p:nvPr/>
          </p:nvSpPr>
          <p:spPr>
            <a:xfrm>
              <a:off x="8870727" y="4017232"/>
              <a:ext cx="2820177" cy="17052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视图模型通过</a:t>
              </a:r>
              <a:r>
                <a:rPr lang="en-US" altLang="zh-CN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Vue</a:t>
              </a:r>
              <a:r>
                <a:rPr lang="zh-CN" altLang="en-US" b="0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来监听数据模型的变化</a:t>
              </a:r>
              <a:endPara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zh-CN" altLang="en-US" b="0" dirty="0">
                  <a:solidFill>
                    <a:srgbClr val="00B05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数据模型通过</a:t>
              </a:r>
              <a:r>
                <a:rPr lang="en-US" altLang="zh-CN" b="0" dirty="0">
                  <a:solidFill>
                    <a:srgbClr val="00B05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Vue</a:t>
              </a:r>
              <a:r>
                <a:rPr lang="zh-CN" altLang="en-US" b="0" dirty="0">
                  <a:solidFill>
                    <a:srgbClr val="00B05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</a:rPr>
                <a:t>绑定到视图模型上</a:t>
              </a:r>
              <a:endParaRPr lang="en-US" altLang="zh-CN" b="0" dirty="0">
                <a:solidFill>
                  <a:srgbClr val="00B050"/>
                </a:solidFill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62945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的简介与安装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CD54EAFC-3314-40CC-AFA8-8C656D6601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1" y="1808521"/>
            <a:ext cx="11037759" cy="453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是一个基于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ChromeV8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引擎的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运行环境，它可以让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JavaScript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运行在服务器端。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BDCFB16-035C-47C5-A11E-644A0CFD6D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3539" y="3382826"/>
            <a:ext cx="1082134" cy="150127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6A1B6B9-773D-4B1A-9226-0F3E118D81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436" y="2640225"/>
            <a:ext cx="4694327" cy="3665538"/>
          </a:xfrm>
          <a:prstGeom prst="rect">
            <a:avLst/>
          </a:prstGeom>
        </p:spPr>
      </p:pic>
      <p:sp>
        <p:nvSpPr>
          <p:cNvPr id="16" name="箭头: 右 15">
            <a:extLst>
              <a:ext uri="{FF2B5EF4-FFF2-40B4-BE49-F238E27FC236}">
                <a16:creationId xmlns:a16="http://schemas.microsoft.com/office/drawing/2014/main" id="{6E16AB4E-C42D-40A2-BA20-9015B421BC73}"/>
              </a:ext>
            </a:extLst>
          </p:cNvPr>
          <p:cNvSpPr/>
          <p:nvPr/>
        </p:nvSpPr>
        <p:spPr>
          <a:xfrm>
            <a:off x="3405673" y="3788229"/>
            <a:ext cx="1492898" cy="6904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双击进入</a:t>
            </a:r>
          </a:p>
        </p:txBody>
      </p:sp>
    </p:spTree>
    <p:extLst>
      <p:ext uri="{BB962C8B-B14F-4D97-AF65-F5344CB8AC3E}">
        <p14:creationId xmlns:p14="http://schemas.microsoft.com/office/powerpoint/2010/main" val="1503767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的简介与安装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BFB3F1E-3288-40FB-B772-0BA83783A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740" y="3254479"/>
            <a:ext cx="5447742" cy="3377855"/>
          </a:xfrm>
          <a:prstGeom prst="rect">
            <a:avLst/>
          </a:prstGeom>
        </p:spPr>
      </p:pic>
      <p:sp>
        <p:nvSpPr>
          <p:cNvPr id="11" name="Text Box 3">
            <a:extLst>
              <a:ext uri="{FF2B5EF4-FFF2-40B4-BE49-F238E27FC236}">
                <a16:creationId xmlns:a16="http://schemas.microsoft.com/office/drawing/2014/main" id="{AE39A829-C896-4117-8F23-A5952D06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1" y="1808521"/>
            <a:ext cx="11037759" cy="85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安装完后，通过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窗口键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+R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进入运行界面，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在运行界面输入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cmd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快速进入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cmd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界面，并通过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 –v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命令检测当前安装的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的版本，如图：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D919272-3726-47FB-899B-415967B0F44E}"/>
              </a:ext>
            </a:extLst>
          </p:cNvPr>
          <p:cNvCxnSpPr/>
          <p:nvPr/>
        </p:nvCxnSpPr>
        <p:spPr>
          <a:xfrm flipH="1">
            <a:off x="2379306" y="2235208"/>
            <a:ext cx="503853" cy="15623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图片 9">
            <a:extLst>
              <a:ext uri="{FF2B5EF4-FFF2-40B4-BE49-F238E27FC236}">
                <a16:creationId xmlns:a16="http://schemas.microsoft.com/office/drawing/2014/main" id="{8609138C-998F-4EEC-8572-BC7F98AAE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08" y="3797559"/>
            <a:ext cx="2175551" cy="274163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9D83380-31F9-4A2F-920E-C65F044C0BD9}"/>
              </a:ext>
            </a:extLst>
          </p:cNvPr>
          <p:cNvSpPr txBox="1"/>
          <p:nvPr/>
        </p:nvSpPr>
        <p:spPr>
          <a:xfrm>
            <a:off x="2883159" y="4553338"/>
            <a:ext cx="24352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窗口键也可称为</a:t>
            </a:r>
            <a:r>
              <a:rPr lang="en-US" altLang="zh-CN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win</a:t>
            </a:r>
            <a:r>
              <a:rPr lang="zh-CN" altLang="en-US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键，一般是键盘上</a:t>
            </a:r>
            <a:r>
              <a:rPr lang="en-US" altLang="zh-CN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windows</a:t>
            </a:r>
            <a:r>
              <a:rPr lang="zh-CN" altLang="en-US" b="0" dirty="0">
                <a:solidFill>
                  <a:srgbClr val="0070C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图标的按键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1DC0C37-F850-4DEA-9491-6E5111038105}"/>
              </a:ext>
            </a:extLst>
          </p:cNvPr>
          <p:cNvSpPr txBox="1"/>
          <p:nvPr/>
        </p:nvSpPr>
        <p:spPr>
          <a:xfrm>
            <a:off x="7170776" y="12411"/>
            <a:ext cx="5021224" cy="157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注意：</a:t>
            </a:r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安装</a:t>
            </a: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node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的时候一定要安装在英文目录下，包括我们的系统用户名也尽量是英文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node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与</a:t>
            </a: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-v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之前一定要有空格，</a:t>
            </a: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v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是小写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264804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、代码测试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功能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E39A829-C896-4117-8F23-A5952D06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1" y="1808521"/>
            <a:ext cx="11037759" cy="21144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新建文件夹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nodejstest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，并在文件夹中新建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helloworld.txt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文件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添加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console.log(‘Hello World’)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代码到文件中，如右图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将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.txt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后缀名改成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js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通过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cmd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窗口执行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指令来测试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EA9134-F2BB-45D1-9F96-EF14DFE0A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590" y="2417953"/>
            <a:ext cx="5078409" cy="231621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C7BC1A0-97C0-4B9A-851A-1AE8DAE3F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334" y="4052124"/>
            <a:ext cx="4822639" cy="2599087"/>
          </a:xfrm>
          <a:prstGeom prst="rect">
            <a:avLst/>
          </a:prstGeom>
        </p:spPr>
      </p:pic>
      <p:sp>
        <p:nvSpPr>
          <p:cNvPr id="16" name="Text Box 3">
            <a:extLst>
              <a:ext uri="{FF2B5EF4-FFF2-40B4-BE49-F238E27FC236}">
                <a16:creationId xmlns:a16="http://schemas.microsoft.com/office/drawing/2014/main" id="{41770F3B-760F-4866-8881-925D706AF0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0880" y="5160845"/>
            <a:ext cx="6218287" cy="1407373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通过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cd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命令到我们（文件名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  <a:r>
              <a:rPr lang="en-US" altLang="zh-CN" b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js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）的目录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通过（</a:t>
            </a:r>
            <a:r>
              <a:rPr lang="en-US" altLang="zh-CN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  </a:t>
            </a: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文件名</a:t>
            </a:r>
            <a:r>
              <a:rPr lang="en-US" altLang="zh-CN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.</a:t>
            </a:r>
            <a:r>
              <a:rPr lang="en-US" altLang="zh-CN" b="0" dirty="0" err="1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js</a:t>
            </a: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）文件来执行性文件内容，能正常执行，说明</a:t>
            </a:r>
            <a:r>
              <a:rPr lang="en-US" altLang="zh-CN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node</a:t>
            </a:r>
            <a:r>
              <a:rPr lang="zh-CN" altLang="en-US" b="0" dirty="0">
                <a:solidFill>
                  <a:srgbClr val="FFFF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安装正常</a:t>
            </a:r>
            <a:endParaRPr lang="en-US" altLang="zh-CN" b="0" dirty="0">
              <a:solidFill>
                <a:srgbClr val="FFFF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4C9D28-C954-4734-969C-3D53DAD60C90}"/>
              </a:ext>
            </a:extLst>
          </p:cNvPr>
          <p:cNvSpPr txBox="1"/>
          <p:nvPr/>
        </p:nvSpPr>
        <p:spPr>
          <a:xfrm>
            <a:off x="7240554" y="17415"/>
            <a:ext cx="4951445" cy="1941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  <a:latin typeface="+mj-ea"/>
                <a:ea typeface="+mj-ea"/>
              </a:rPr>
              <a:t>注意：</a:t>
            </a:r>
            <a:endParaRPr lang="en-US" altLang="zh-CN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使用</a:t>
            </a: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node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命令执行对应的</a:t>
            </a:r>
            <a:r>
              <a:rPr lang="en-US" altLang="zh-CN" sz="1600" dirty="0" err="1">
                <a:solidFill>
                  <a:srgbClr val="FF0000"/>
                </a:solidFill>
                <a:latin typeface="+mj-ea"/>
                <a:ea typeface="+mj-ea"/>
              </a:rPr>
              <a:t>js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文件时一定要在通过</a:t>
            </a: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CD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命令到我们的文件目录下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FF0000"/>
                </a:solidFill>
                <a:latin typeface="+mj-ea"/>
                <a:ea typeface="+mj-ea"/>
              </a:rPr>
              <a:t>CD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命令不会，可在文件夹地址栏直接输入</a:t>
            </a:r>
            <a:r>
              <a:rPr lang="en-US" altLang="zh-CN" sz="1600" dirty="0" err="1">
                <a:solidFill>
                  <a:srgbClr val="FF0000"/>
                </a:solidFill>
                <a:latin typeface="+mj-ea"/>
                <a:ea typeface="+mj-ea"/>
              </a:rPr>
              <a:t>cmd</a:t>
            </a:r>
            <a:r>
              <a:rPr lang="zh-CN" altLang="en-US" sz="1600" dirty="0">
                <a:solidFill>
                  <a:srgbClr val="FF0000"/>
                </a:solidFill>
                <a:latin typeface="+mj-ea"/>
                <a:ea typeface="+mj-ea"/>
              </a:rPr>
              <a:t>进入</a:t>
            </a:r>
            <a:endParaRPr lang="en-US" altLang="zh-CN" sz="16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9482528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npm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包管理工具简介与功能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E39A829-C896-4117-8F23-A5952D06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892418"/>
            <a:ext cx="11037759" cy="21152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是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Node.js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的包管理工具，在安装完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Node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之后就自动安装了，无需单独安装。其功能如下：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从</a:t>
            </a:r>
            <a:r>
              <a:rPr lang="en-US" altLang="zh-CN" b="0" dirty="0" err="1">
                <a:solidFill>
                  <a:srgbClr val="FF0000"/>
                </a:solidFill>
                <a:latin typeface="+mj-ea"/>
                <a:ea typeface="+mj-ea"/>
              </a:rPr>
              <a:t>npm</a:t>
            </a: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服务器下载第三方包到本地使用</a:t>
            </a:r>
            <a:endParaRPr lang="en-US" altLang="zh-CN" b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从</a:t>
            </a:r>
            <a:r>
              <a:rPr lang="en-US" altLang="zh-CN" b="0" dirty="0" err="1">
                <a:solidFill>
                  <a:srgbClr val="FF0000"/>
                </a:solidFill>
                <a:latin typeface="+mj-ea"/>
                <a:ea typeface="+mj-ea"/>
              </a:rPr>
              <a:t>npm</a:t>
            </a: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服务器下载并安装命令程序到本地使用</a:t>
            </a:r>
            <a:endParaRPr lang="en-US" altLang="zh-CN" b="0" dirty="0">
              <a:solidFill>
                <a:srgbClr val="FF0000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可将自己编写的包或命令行程序上传到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服务器供他人使用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9108246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npm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常用命令</a:t>
            </a: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E39A829-C896-4117-8F23-A5952D06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892418"/>
            <a:ext cx="11037759" cy="4663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0" dirty="0" err="1">
                <a:solidFill>
                  <a:srgbClr val="FF0000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rgbClr val="FF0000"/>
                </a:solidFill>
                <a:latin typeface="+mj-ea"/>
                <a:ea typeface="+mj-ea"/>
              </a:rPr>
              <a:t> install </a:t>
            </a: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包名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：该命令用于安装项目指定包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1800" b="0" i="0" dirty="0">
                <a:solidFill>
                  <a:srgbClr val="4D4D4D"/>
                </a:solidFill>
                <a:effectLst/>
                <a:latin typeface="+mj-ea"/>
                <a:ea typeface="+mj-ea"/>
              </a:rPr>
              <a:t>	</a:t>
            </a: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npm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install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包名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: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会下载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dependencies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和</a:t>
            </a: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devDependencies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中的模块</a:t>
            </a:r>
            <a:endParaRPr lang="en-US" altLang="zh-CN" sz="1800" b="0" i="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	</a:t>
            </a: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npm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install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包名 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--save: 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生产环境依赖的模块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dependencies </a:t>
            </a: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	</a:t>
            </a:r>
            <a:r>
              <a:rPr lang="en-US" altLang="zh-CN" sz="1800" b="0" i="0" dirty="0" err="1">
                <a:solidFill>
                  <a:schemeClr val="tx1"/>
                </a:solidFill>
                <a:effectLst/>
                <a:latin typeface="+mj-ea"/>
                <a:ea typeface="+mj-ea"/>
              </a:rPr>
              <a:t>npm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 install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包名 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-g: 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+mj-ea"/>
                <a:ea typeface="+mj-ea"/>
              </a:rPr>
              <a:t>表示全局安装</a:t>
            </a:r>
            <a:endParaRPr lang="en-US" altLang="zh-CN" sz="1800" b="0" i="0" dirty="0">
              <a:solidFill>
                <a:schemeClr val="tx1"/>
              </a:solidFill>
              <a:effectLst/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	</a:t>
            </a:r>
            <a:r>
              <a:rPr lang="en-US" altLang="zh-CN" sz="1800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 install </a:t>
            </a:r>
            <a:r>
              <a:rPr lang="zh-CN" altLang="en-US" sz="1800" b="0" dirty="0">
                <a:solidFill>
                  <a:schemeClr val="tx1"/>
                </a:solidFill>
                <a:latin typeface="+mj-ea"/>
                <a:ea typeface="+mj-ea"/>
              </a:rPr>
              <a:t>包名</a:t>
            </a: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@</a:t>
            </a:r>
            <a:r>
              <a:rPr lang="zh-CN" altLang="en-US" sz="1800" b="0" dirty="0">
                <a:solidFill>
                  <a:schemeClr val="tx1"/>
                </a:solidFill>
                <a:latin typeface="+mj-ea"/>
                <a:ea typeface="+mj-ea"/>
              </a:rPr>
              <a:t>版本号 ：下载指定版本的第三方包或者命令行工具</a:t>
            </a:r>
            <a:endParaRPr lang="en-US" altLang="zh-CN" sz="1800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0" dirty="0" err="1">
                <a:solidFill>
                  <a:srgbClr val="FF0000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rgbClr val="FF0000"/>
                </a:solidFill>
                <a:latin typeface="+mj-ea"/>
                <a:ea typeface="+mj-ea"/>
              </a:rPr>
              <a:t> uninstall </a:t>
            </a: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包名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 卸载指定包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0" dirty="0" err="1">
                <a:solidFill>
                  <a:srgbClr val="FF0000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rgbClr val="FF0000"/>
                </a:solidFill>
                <a:latin typeface="+mj-ea"/>
                <a:ea typeface="+mj-ea"/>
              </a:rPr>
              <a:t> update </a:t>
            </a:r>
            <a:r>
              <a:rPr lang="zh-CN" altLang="en-US" b="0" dirty="0">
                <a:solidFill>
                  <a:srgbClr val="FF0000"/>
                </a:solidFill>
                <a:latin typeface="+mj-ea"/>
                <a:ea typeface="+mj-ea"/>
              </a:rPr>
              <a:t>包名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：更新指定包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start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：项目启动；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 marL="342900" indent="-342900">
              <a:lnSpc>
                <a:spcPct val="130000"/>
              </a:lnSpc>
              <a:spcBef>
                <a:spcPct val="50000"/>
              </a:spcBef>
              <a:buFont typeface="Arial" panose="020B0604020202020204" pitchFamily="34" charset="0"/>
              <a:buChar char="•"/>
            </a:pP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run build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：项目构建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34877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 flipH="1">
            <a:off x="920334" y="552237"/>
            <a:ext cx="51756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Node.js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与</a:t>
            </a:r>
            <a:r>
              <a:rPr lang="en-US" altLang="zh-CN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Vue-</a:t>
            </a:r>
            <a:r>
              <a:rPr lang="en-US" altLang="zh-CN" sz="2400" dirty="0" err="1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Cli</a:t>
            </a:r>
            <a:r>
              <a:rPr lang="zh-CN" altLang="en-US" sz="2400" dirty="0">
                <a:solidFill>
                  <a:schemeClr val="accent3"/>
                </a:solidFill>
                <a:latin typeface="微软雅黑" charset="0"/>
                <a:ea typeface="微软雅黑" charset="0"/>
                <a:cs typeface="微软雅黑" charset="0"/>
              </a:rPr>
              <a:t>的安装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5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、通过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npm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安装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Vue-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Cli</a:t>
            </a:r>
            <a:endParaRPr lang="zh-CN" altLang="en-US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3CFD0FDA-D8CC-4FD8-9D33-22F93DC9E820}"/>
              </a:ext>
            </a:extLst>
          </p:cNvPr>
          <p:cNvSpPr/>
          <p:nvPr/>
        </p:nvSpPr>
        <p:spPr>
          <a:xfrm rot="5400000">
            <a:off x="521303" y="598332"/>
            <a:ext cx="428591" cy="369473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E39A829-C896-4117-8F23-A5952D061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892418"/>
            <a:ext cx="11037759" cy="10074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Vue-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Cli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是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官方提供的一个命令行工具，也称为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脚手架，可帮助我们快速构建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项目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安装方法：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install </a:t>
            </a:r>
            <a:r>
              <a:rPr lang="en-US" altLang="zh-CN" b="0" dirty="0">
                <a:solidFill>
                  <a:srgbClr val="FF0000"/>
                </a:solidFill>
                <a:latin typeface="+mj-ea"/>
                <a:ea typeface="+mj-ea"/>
              </a:rPr>
              <a:t>--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global 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vue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-cli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B0FDEC7-E9F7-4BB7-BD01-5554B3AB63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290" y="3111922"/>
            <a:ext cx="11577417" cy="208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335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639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C729D5-78A3-4AB3-93B3-A6CB4AC44CFC}"/>
              </a:ext>
            </a:extLst>
          </p:cNvPr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Webpack</a:t>
            </a:r>
            <a:r>
              <a:rPr lang="zh-CN" altLang="en-US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的安装与使用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A7F8A99-53B8-40F9-805E-C59B5C99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简介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444E1831-9CE4-49CD-A9B0-89FE1478E8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679408"/>
            <a:ext cx="10460037" cy="85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是一个模块打包工具，可以把前端项目中的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js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css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、图片等文件都打包在一起，实现项目自动化构建。类似我们使用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idea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等工具新建项目。</a:t>
            </a: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2DB04EB6-53B0-42C6-BCE9-98331A970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2532783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2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安装</a:t>
            </a:r>
          </a:p>
        </p:txBody>
      </p:sp>
      <p:sp>
        <p:nvSpPr>
          <p:cNvPr id="15" name="Text Box 3">
            <a:extLst>
              <a:ext uri="{FF2B5EF4-FFF2-40B4-BE49-F238E27FC236}">
                <a16:creationId xmlns:a16="http://schemas.microsoft.com/office/drawing/2014/main" id="{C8EE66E0-9A65-4290-969D-B9C8C7123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2985279"/>
            <a:ext cx="10460037" cy="453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indent="457200">
              <a:lnSpc>
                <a:spcPct val="130000"/>
              </a:lnSpc>
              <a:spcBef>
                <a:spcPct val="50000"/>
              </a:spcBef>
            </a:pP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安装方法：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install webpack –g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1FE567-BB51-4641-932A-90CB359A47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65" y="3436814"/>
            <a:ext cx="12030870" cy="107500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DA76153-967D-4A2D-B22C-3C2E9645A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292" y="4970374"/>
            <a:ext cx="11885416" cy="107500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F85AFED-CBF9-496A-AA53-968C9047E39D}"/>
              </a:ext>
            </a:extLst>
          </p:cNvPr>
          <p:cNvSpPr txBox="1"/>
          <p:nvPr/>
        </p:nvSpPr>
        <p:spPr>
          <a:xfrm>
            <a:off x="550862" y="4516917"/>
            <a:ext cx="9029837" cy="453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>
              <a:lnSpc>
                <a:spcPct val="130000"/>
              </a:lnSpc>
              <a:spcBef>
                <a:spcPct val="50000"/>
              </a:spcBef>
            </a:pP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</a:rPr>
              <a:t>如果需要安装指定版本，可以在</a:t>
            </a:r>
            <a:r>
              <a:rPr lang="en-US" altLang="zh-CN" sz="2000" b="0" dirty="0">
                <a:solidFill>
                  <a:schemeClr val="tx1"/>
                </a:solidFill>
                <a:latin typeface="+mj-ea"/>
                <a:ea typeface="+mj-ea"/>
              </a:rPr>
              <a:t>webpack</a:t>
            </a:r>
            <a:r>
              <a:rPr lang="zh-CN" altLang="en-US" sz="2000" b="0" dirty="0">
                <a:solidFill>
                  <a:schemeClr val="tx1"/>
                </a:solidFill>
                <a:latin typeface="+mj-ea"/>
                <a:ea typeface="+mj-ea"/>
              </a:rPr>
              <a:t>后加入对应版本信息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EB3615D-C530-4A41-8B6A-9C406AEFD2E0}"/>
              </a:ext>
            </a:extLst>
          </p:cNvPr>
          <p:cNvSpPr txBox="1"/>
          <p:nvPr/>
        </p:nvSpPr>
        <p:spPr>
          <a:xfrm>
            <a:off x="920335" y="6129501"/>
            <a:ext cx="94754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0" dirty="0">
                <a:solidFill>
                  <a:schemeClr val="tx1"/>
                </a:solidFill>
                <a:latin typeface="+mj-ea"/>
                <a:ea typeface="+mj-ea"/>
              </a:rPr>
              <a:t>可以先通过非指定版本方式安装</a:t>
            </a: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webpack</a:t>
            </a:r>
            <a:r>
              <a:rPr lang="zh-CN" altLang="en-US" sz="1800" b="0" dirty="0">
                <a:solidFill>
                  <a:schemeClr val="tx1"/>
                </a:solidFill>
                <a:latin typeface="+mj-ea"/>
                <a:ea typeface="+mj-ea"/>
              </a:rPr>
              <a:t>，然后通过</a:t>
            </a:r>
            <a:r>
              <a:rPr lang="en-US" altLang="zh-CN" sz="1800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sz="1800" b="0" dirty="0">
                <a:solidFill>
                  <a:schemeClr val="tx1"/>
                </a:solidFill>
                <a:latin typeface="+mj-ea"/>
                <a:ea typeface="+mj-ea"/>
              </a:rPr>
              <a:t> uninstall webpack</a:t>
            </a:r>
            <a:r>
              <a:rPr lang="zh-CN" altLang="en-US" sz="1800" b="0" dirty="0">
                <a:solidFill>
                  <a:schemeClr val="tx1"/>
                </a:solidFill>
                <a:latin typeface="+mj-ea"/>
                <a:ea typeface="+mj-ea"/>
              </a:rPr>
              <a:t>进行卸载，再通过指定版本号方式进行安装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9F72BE7-F8C8-4FF0-BE8B-142287C3A8E2}"/>
              </a:ext>
            </a:extLst>
          </p:cNvPr>
          <p:cNvSpPr txBox="1"/>
          <p:nvPr/>
        </p:nvSpPr>
        <p:spPr>
          <a:xfrm>
            <a:off x="5362920" y="97145"/>
            <a:ext cx="6829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练习</a:t>
            </a:r>
            <a:r>
              <a:rPr lang="en-US" altLang="zh-CN" dirty="0" err="1">
                <a:latin typeface="+mj-ea"/>
                <a:ea typeface="+mj-ea"/>
              </a:rPr>
              <a:t>npm</a:t>
            </a:r>
            <a:r>
              <a:rPr lang="zh-CN" altLang="en-US" dirty="0">
                <a:latin typeface="+mj-ea"/>
                <a:ea typeface="+mj-ea"/>
              </a:rPr>
              <a:t>安装和卸载命令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：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1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、先通过</a:t>
            </a:r>
            <a:r>
              <a:rPr lang="en-US" altLang="zh-CN" b="0" dirty="0" err="1">
                <a:solidFill>
                  <a:schemeClr val="tx1"/>
                </a:solidFill>
                <a:latin typeface="+mj-ea"/>
                <a:ea typeface="+mj-ea"/>
              </a:rPr>
              <a:t>npm</a:t>
            </a:r>
            <a:r>
              <a:rPr lang="en-US" altLang="zh-CN" b="0" dirty="0">
                <a:solidFill>
                  <a:schemeClr val="tx1"/>
                </a:solidFill>
                <a:latin typeface="+mj-ea"/>
                <a:ea typeface="+mj-ea"/>
              </a:rPr>
              <a:t> install webpack –g</a:t>
            </a:r>
            <a:r>
              <a:rPr lang="zh-CN" altLang="en-US" b="0" dirty="0">
                <a:solidFill>
                  <a:schemeClr val="tx1"/>
                </a:solidFill>
                <a:latin typeface="+mj-ea"/>
                <a:ea typeface="+mj-ea"/>
              </a:rPr>
              <a:t>进行非指定版本的安装</a:t>
            </a:r>
            <a:endParaRPr lang="en-US" altLang="zh-CN" b="0" dirty="0">
              <a:solidFill>
                <a:schemeClr val="tx1"/>
              </a:solidFill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2</a:t>
            </a:r>
            <a:r>
              <a:rPr lang="zh-CN" altLang="en-US" dirty="0">
                <a:latin typeface="+mj-ea"/>
                <a:ea typeface="+mj-ea"/>
              </a:rPr>
              <a:t>、通过</a:t>
            </a:r>
            <a:r>
              <a:rPr lang="en-US" altLang="zh-CN" dirty="0" err="1">
                <a:latin typeface="+mj-ea"/>
                <a:ea typeface="+mj-ea"/>
              </a:rPr>
              <a:t>npm</a:t>
            </a:r>
            <a:r>
              <a:rPr lang="en-US" altLang="zh-CN" dirty="0">
                <a:latin typeface="+mj-ea"/>
                <a:ea typeface="+mj-ea"/>
              </a:rPr>
              <a:t> uninstall webpack</a:t>
            </a:r>
            <a:r>
              <a:rPr lang="zh-CN" altLang="en-US" dirty="0">
                <a:latin typeface="+mj-ea"/>
                <a:ea typeface="+mj-ea"/>
              </a:rPr>
              <a:t>对已安装的</a:t>
            </a:r>
            <a:r>
              <a:rPr lang="en-US" altLang="zh-CN" dirty="0">
                <a:latin typeface="+mj-ea"/>
                <a:ea typeface="+mj-ea"/>
              </a:rPr>
              <a:t>webpack</a:t>
            </a:r>
            <a:r>
              <a:rPr lang="zh-CN" altLang="en-US" dirty="0">
                <a:latin typeface="+mj-ea"/>
                <a:ea typeface="+mj-ea"/>
              </a:rPr>
              <a:t>进行卸载</a:t>
            </a:r>
            <a:endParaRPr lang="en-US" altLang="zh-CN" dirty="0">
              <a:latin typeface="+mj-ea"/>
              <a:ea typeface="+mj-ea"/>
            </a:endParaRPr>
          </a:p>
          <a:p>
            <a:r>
              <a:rPr lang="en-US" altLang="zh-CN" dirty="0">
                <a:latin typeface="+mj-ea"/>
                <a:ea typeface="+mj-ea"/>
              </a:rPr>
              <a:t>3</a:t>
            </a:r>
            <a:r>
              <a:rPr lang="zh-CN" altLang="en-US" dirty="0">
                <a:latin typeface="+mj-ea"/>
                <a:ea typeface="+mj-ea"/>
              </a:rPr>
              <a:t>、再通过</a:t>
            </a:r>
            <a:r>
              <a:rPr lang="en-US" altLang="zh-CN" dirty="0" err="1">
                <a:latin typeface="+mj-ea"/>
                <a:ea typeface="+mj-ea"/>
              </a:rPr>
              <a:t>npm</a:t>
            </a:r>
            <a:r>
              <a:rPr lang="en-US" altLang="zh-CN" dirty="0">
                <a:latin typeface="+mj-ea"/>
                <a:ea typeface="+mj-ea"/>
              </a:rPr>
              <a:t> install webpack@5.13.0</a:t>
            </a:r>
            <a:r>
              <a:rPr lang="zh-CN" altLang="en-US" dirty="0">
                <a:latin typeface="+mj-ea"/>
                <a:ea typeface="+mj-ea"/>
              </a:rPr>
              <a:t> </a:t>
            </a:r>
            <a:r>
              <a:rPr lang="en-US" altLang="zh-CN" dirty="0">
                <a:latin typeface="+mj-ea"/>
                <a:ea typeface="+mj-ea"/>
              </a:rPr>
              <a:t>–g</a:t>
            </a:r>
            <a:r>
              <a:rPr lang="zh-CN" altLang="en-US" dirty="0">
                <a:latin typeface="+mj-ea"/>
                <a:ea typeface="+mj-ea"/>
              </a:rPr>
              <a:t>进行指定版本安装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591037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639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C729D5-78A3-4AB3-93B3-A6CB4AC44CFC}"/>
              </a:ext>
            </a:extLst>
          </p:cNvPr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Webpack</a:t>
            </a:r>
            <a:r>
              <a:rPr lang="zh-CN" altLang="en-US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的安装与使用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A7F8A99-53B8-40F9-805E-C59B5C99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构建项目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00A60D9-8EA2-4511-946B-AD41B47A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6527" y="1679408"/>
            <a:ext cx="7728705" cy="1279990"/>
          </a:xfrm>
          <a:prstGeom prst="rect">
            <a:avLst/>
          </a:prstGeom>
        </p:spPr>
      </p:pic>
      <p:sp>
        <p:nvSpPr>
          <p:cNvPr id="16" name="Text Box 3">
            <a:extLst>
              <a:ext uri="{FF2B5EF4-FFF2-40B4-BE49-F238E27FC236}">
                <a16:creationId xmlns:a16="http://schemas.microsoft.com/office/drawing/2014/main" id="{CFF736B3-0E7D-4FD0-AC7E-692C3EB573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431" y="2959398"/>
            <a:ext cx="1164113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先通过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方式一</a:t>
            </a:r>
            <a:r>
              <a:rPr lang="en-US" altLang="zh-CN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cd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命令到一个空的文件夹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，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方式二直接在空文件夹的地址栏中输入</a:t>
            </a:r>
            <a:r>
              <a:rPr lang="en-US" altLang="zh-CN" b="0" dirty="0" err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cmd</a:t>
            </a:r>
            <a:r>
              <a:rPr lang="zh-CN" altLang="en-US" b="0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进入命令页面</a:t>
            </a:r>
            <a:endParaRPr lang="en-US" altLang="zh-CN" b="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通过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vue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init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 webpack xxx     (xxx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为项目名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)</a:t>
            </a:r>
          </a:p>
          <a:p>
            <a:pPr marL="457200" indent="-457200">
              <a:spcBef>
                <a:spcPct val="50000"/>
              </a:spcBef>
              <a:buFont typeface="+mj-ea"/>
              <a:buAutoNum type="circleNumDbPlain"/>
            </a:pP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然后根据提示输入对应的数据</a:t>
            </a:r>
            <a:endParaRPr lang="en-US" altLang="zh-CN" b="0" dirty="0">
              <a:solidFill>
                <a:schemeClr val="tx1"/>
              </a:solidFill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12E39BB-6D1F-4580-B3F7-AE0049E315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210" y="4239388"/>
            <a:ext cx="9247580" cy="2553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645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639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C729D5-78A3-4AB3-93B3-A6CB4AC44CFC}"/>
              </a:ext>
            </a:extLst>
          </p:cNvPr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Webpack</a:t>
            </a:r>
            <a:r>
              <a:rPr lang="zh-CN" altLang="en-US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的安装与使用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A7F8A99-53B8-40F9-805E-C59B5C99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构建项目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970BEBF-B385-4421-87B0-7CB9B56E3ED4}"/>
              </a:ext>
            </a:extLst>
          </p:cNvPr>
          <p:cNvSpPr txBox="1"/>
          <p:nvPr/>
        </p:nvSpPr>
        <p:spPr>
          <a:xfrm>
            <a:off x="550862" y="1758477"/>
            <a:ext cx="11090275" cy="4613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Project name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：项目名称，直接回车，项目名必须小写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Project description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：项目描述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Author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：项目作者</a:t>
            </a:r>
            <a:b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</a:b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接下来会让用户选择：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Runtime + Compiler: recommended for most users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运行加编译，就选它</a:t>
            </a:r>
            <a:endParaRPr lang="en-US" altLang="zh-CN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Install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vue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-router? (Y/n)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是否安装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vue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-router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，这是官方的路由，大多数情况下都使用，这里就输入“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y”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后回车即可。</a:t>
            </a: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Use 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ESLint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 to lint your code? (Y/n)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是否使用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ESLint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管理代码，</a:t>
            </a:r>
            <a:r>
              <a:rPr lang="en-US" altLang="zh-CN" b="0" i="0" dirty="0" err="1">
                <a:solidFill>
                  <a:srgbClr val="000000"/>
                </a:solidFill>
                <a:effectLst/>
                <a:latin typeface="+mj-ea"/>
                <a:ea typeface="+mj-ea"/>
              </a:rPr>
              <a:t>ESLint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是个代码风格管理工具，是用来统一代码风格的，我们目前不需要，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回车</a:t>
            </a:r>
            <a:endParaRPr lang="en-US" altLang="zh-CN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Setup unit tests? (Y/n) 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是否安装单元测试，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n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+mj-ea"/>
                <a:ea typeface="+mj-ea"/>
              </a:rPr>
              <a:t>回车</a:t>
            </a:r>
            <a:endParaRPr lang="en-US" altLang="zh-CN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  <a:p>
            <a:pPr marL="285750" indent="-28575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Should we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run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‘</a:t>
            </a:r>
            <a:r>
              <a:rPr lang="en-US" altLang="zh-CN" dirty="0" err="1">
                <a:solidFill>
                  <a:srgbClr val="000000"/>
                </a:solidFill>
                <a:latin typeface="+mj-ea"/>
                <a:ea typeface="+mj-ea"/>
              </a:rPr>
              <a:t>npm</a:t>
            </a:r>
            <a:r>
              <a:rPr lang="en-US" altLang="zh-CN" dirty="0">
                <a:solidFill>
                  <a:srgbClr val="000000"/>
                </a:solidFill>
                <a:latin typeface="+mj-ea"/>
                <a:ea typeface="+mj-ea"/>
              </a:rPr>
              <a:t> install’…….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？选择安装工具为</a:t>
            </a:r>
            <a:r>
              <a:rPr lang="en-US" altLang="zh-CN" dirty="0" err="1">
                <a:solidFill>
                  <a:srgbClr val="000000"/>
                </a:solidFill>
                <a:latin typeface="+mj-ea"/>
                <a:ea typeface="+mj-ea"/>
              </a:rPr>
              <a:t>npm</a:t>
            </a:r>
            <a:r>
              <a:rPr lang="zh-CN" altLang="en-US" dirty="0">
                <a:solidFill>
                  <a:srgbClr val="000000"/>
                </a:solidFill>
                <a:latin typeface="+mj-ea"/>
                <a:ea typeface="+mj-ea"/>
              </a:rPr>
              <a:t>后回车</a:t>
            </a:r>
            <a:endParaRPr lang="zh-CN" altLang="en-US" b="0" i="0" dirty="0">
              <a:solidFill>
                <a:srgbClr val="000000"/>
              </a:solidFill>
              <a:effectLst/>
              <a:latin typeface="+mj-ea"/>
              <a:ea typeface="+mj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156431E-540D-4C63-BF8C-2077C931F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7043" y="0"/>
            <a:ext cx="5954957" cy="1644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212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639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C729D5-78A3-4AB3-93B3-A6CB4AC44CFC}"/>
              </a:ext>
            </a:extLst>
          </p:cNvPr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Webpack</a:t>
            </a:r>
            <a:r>
              <a:rPr lang="zh-CN" altLang="en-US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的安装与使用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A7F8A99-53B8-40F9-805E-C59B5C99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Webpack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构建项目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1364CB-CAD5-471B-8D2E-A0382B015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600" y="1783515"/>
            <a:ext cx="5618547" cy="266739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592A0ABA-3BBC-42DD-B9D2-1A3F2946A2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600" y="4579437"/>
            <a:ext cx="8245555" cy="210330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C7D1556-A11F-4F54-AAA7-169F6AC709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5874" y="1005035"/>
            <a:ext cx="4796124" cy="3130862"/>
          </a:xfrm>
          <a:prstGeom prst="rect">
            <a:avLst/>
          </a:prstGeom>
        </p:spPr>
      </p:pic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BD1D7BC6-4E1F-4225-B96D-1FA93DE8F339}"/>
              </a:ext>
            </a:extLst>
          </p:cNvPr>
          <p:cNvCxnSpPr/>
          <p:nvPr/>
        </p:nvCxnSpPr>
        <p:spPr>
          <a:xfrm flipV="1">
            <a:off x="5215812" y="3750906"/>
            <a:ext cx="3508310" cy="2771192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28308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/>
        </p:nvSpPr>
        <p:spPr>
          <a:xfrm rot="5400000">
            <a:off x="521304" y="606001"/>
            <a:ext cx="428592" cy="369474"/>
          </a:xfrm>
          <a:prstGeom prst="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39639D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AC729D5-78A3-4AB3-93B3-A6CB4AC44CFC}"/>
              </a:ext>
            </a:extLst>
          </p:cNvPr>
          <p:cNvSpPr txBox="1"/>
          <p:nvPr/>
        </p:nvSpPr>
        <p:spPr>
          <a:xfrm flipH="1">
            <a:off x="920335" y="552237"/>
            <a:ext cx="3575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en-US" altLang="zh-CN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Webpack</a:t>
            </a:r>
            <a:r>
              <a:rPr lang="zh-CN" altLang="en-US" sz="2400" dirty="0">
                <a:solidFill>
                  <a:srgbClr val="39639D"/>
                </a:solidFill>
                <a:latin typeface="微软雅黑" charset="0"/>
                <a:ea typeface="微软雅黑" charset="0"/>
                <a:cs typeface="微软雅黑" charset="0"/>
              </a:rPr>
              <a:t>的安装与使用</a:t>
            </a:r>
          </a:p>
        </p:txBody>
      </p:sp>
      <p:sp>
        <p:nvSpPr>
          <p:cNvPr id="12" name="Text Box 3">
            <a:extLst>
              <a:ext uri="{FF2B5EF4-FFF2-40B4-BE49-F238E27FC236}">
                <a16:creationId xmlns:a16="http://schemas.microsoft.com/office/drawing/2014/main" id="{DA7F8A99-53B8-40F9-805E-C59B5C993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" y="1226912"/>
            <a:ext cx="10460037" cy="452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1pPr>
            <a:lvl2pPr marL="742950" indent="-28575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2pPr>
            <a:lvl3pPr marL="11430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3pPr>
            <a:lvl4pPr marL="16002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4pPr>
            <a:lvl5pPr marL="2057400" indent="-228600"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accent1"/>
                </a:solidFill>
                <a:latin typeface="Lucida Sans Unicode" panose="020B0602030504020204" pitchFamily="34" charset="0"/>
                <a:ea typeface="Gulim" panose="020B0600000101010101" pitchFamily="34" charset="-127"/>
              </a:defRPr>
            </a:lvl9pPr>
          </a:lstStyle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、</a:t>
            </a:r>
            <a:r>
              <a:rPr lang="en-US" altLang="zh-CN" b="0" dirty="0" err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VsCode</a:t>
            </a:r>
            <a:r>
              <a:rPr lang="zh-CN" altLang="en-US" b="0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软件与插件的安装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F573DE4-86B3-458D-82A0-5200AFDC0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147" y="2644072"/>
            <a:ext cx="1204064" cy="156985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41A991E-F084-4146-8A00-2FE2ABF97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496" y="1679408"/>
            <a:ext cx="5273497" cy="4313294"/>
          </a:xfrm>
          <a:prstGeom prst="rect">
            <a:avLst/>
          </a:prstGeom>
        </p:spPr>
      </p:pic>
      <p:sp>
        <p:nvSpPr>
          <p:cNvPr id="11" name="箭头: 右 10">
            <a:extLst>
              <a:ext uri="{FF2B5EF4-FFF2-40B4-BE49-F238E27FC236}">
                <a16:creationId xmlns:a16="http://schemas.microsoft.com/office/drawing/2014/main" id="{96081FF3-9125-4A7F-8512-71AAC1A705CB}"/>
              </a:ext>
            </a:extLst>
          </p:cNvPr>
          <p:cNvSpPr/>
          <p:nvPr/>
        </p:nvSpPr>
        <p:spPr>
          <a:xfrm>
            <a:off x="3489649" y="3265714"/>
            <a:ext cx="1415847" cy="72778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双击进入</a:t>
            </a:r>
          </a:p>
        </p:txBody>
      </p:sp>
    </p:spTree>
    <p:extLst>
      <p:ext uri="{BB962C8B-B14F-4D97-AF65-F5344CB8AC3E}">
        <p14:creationId xmlns:p14="http://schemas.microsoft.com/office/powerpoint/2010/main" val="300732025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3d49a8c18875a6531e8f82bf41db2fd8264767e2"/>
</p:tagLst>
</file>

<file path=ppt/theme/theme1.xml><?xml version="1.0" encoding="utf-8"?>
<a:theme xmlns:a="http://schemas.openxmlformats.org/drawingml/2006/main" name="Office 主题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自定义 10">
      <a:majorFont>
        <a:latin typeface="Roboto"/>
        <a:ea typeface="微软雅黑"/>
        <a:cs typeface=""/>
      </a:majorFont>
      <a:minorFont>
        <a:latin typeface="Roboto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4349</TotalTime>
  <Words>1805</Words>
  <Application>Microsoft Office PowerPoint</Application>
  <PresentationFormat>宽屏</PresentationFormat>
  <Paragraphs>219</Paragraphs>
  <Slides>30</Slides>
  <Notes>21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7" baseType="lpstr">
      <vt:lpstr>微软雅黑</vt:lpstr>
      <vt:lpstr>Arial</vt:lpstr>
      <vt:lpstr>Calibri</vt:lpstr>
      <vt:lpstr>Roboto Light</vt:lpstr>
      <vt:lpstr>Times New Roman</vt:lpstr>
      <vt:lpstr>Office 主题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哎呀小小草</dc:title>
  <dc:subject>哎呀小小草</dc:subject>
  <dc:creator>哎呀小小草</dc:creator>
  <cp:keywords>https:/800sucai.taobao.com</cp:keywords>
  <dc:description>https://800sucai.taobao.com/</dc:description>
  <cp:lastModifiedBy>霖</cp:lastModifiedBy>
  <cp:revision>283</cp:revision>
  <dcterms:created xsi:type="dcterms:W3CDTF">2015-09-11T13:14:00Z</dcterms:created>
  <dcterms:modified xsi:type="dcterms:W3CDTF">2022-02-23T08:22:48Z</dcterms:modified>
  <cp:category>https://800sucai.taobao.com/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2052-10.1.0.5346</vt:lpwstr>
  </property>
</Properties>
</file>